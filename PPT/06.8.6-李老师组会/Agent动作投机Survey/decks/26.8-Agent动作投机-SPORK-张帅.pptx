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SPORK 的切入点是：不用辅助模型、不依赖历史轨迹，而是让正在运行的 Actor 从自己的 Prefix KV 上分叉，强制探测下一个工具调用。这也是动作投机与 token speculative decoding 的桥接。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SPORK 将三个问题分开处理：D1 降低多跑一个 probe 的开销，D2 决定什么时候真正发工具，D3 让失配分支也能回收一部分 token。三者分别对应成本模型的不同项。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三个经验发现支撑三个设计。模型在很早时就知道工具名，但参数需要更多 CoT 才稳定，所以需要动态置信门控。同时，即使完整调用不匹配，两者通常仍共享一段较长 token 前缀。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阅读这张图时先看 baseline 的串行工具等待，再看 SPORK 在首 token 之后分叉。D2 只在置信度足够高时发工具；主流到达后完整匹配 name+args，命中就用已完成结果，失配则串行执行并用 D3 回收 token 前缀。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这个成本模型是理解 SPORK 收益的关键。只有命中概率乘真实重叠时间大于 probe 开销，投机才值得。D1 通过首 token 后分叉复用 Prefix KV，把最重的重复 prefill 消掉。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D2 使用工具名 span 中最低的 top-1 token 概率作为保守置信度，低于阈值时并不真正发工具。D3 则不放宽工具级严格匹配，而是把失配 probe 当成 token 草稿，因此不会改变工具语义。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SPORK 的收益比 PASTE 小，但它的优点是训练免费、不额外常驻模型，且对主轨迹使用严格匹配。收益最大的情况是工具较慢、剩余 CoT 足够长，并且完整参数可以较早确定。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SPORK 的关键意义是把同一个 probe 在两个粒度上复用：完整结构命中时复用工具结果，不命中时复用 token 前缀。它也明确告诉我们，自投机不是总能赚，必须满足重叠收益大于 probe 开销。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206240" cy="8669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64692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1261872"/>
            <a:ext cx="196596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613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A60000"/>
                </a:solidFill>
                <a:latin typeface="Microsoft YaHei"/>
              </a:rPr>
              <a:t>SPORK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78408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2230"/>
                </a:solidFill>
                <a:latin typeface="Microsoft YaHei"/>
              </a:rPr>
              <a:t>Self-Speculative Forking to Accelerate Agentic LLM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041648"/>
            <a:ext cx="7863840" cy="50292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900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64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4535424"/>
            <a:ext cx="4800600" cy="50292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20624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0000"/>
                </a:solidFill>
                <a:latin typeface="Microsoft YaHei"/>
              </a:rPr>
              <a:t>Authoritative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608576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Speculative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5766"/>
                </a:solidFill>
                <a:latin typeface="Microsoft YaHei"/>
              </a:rPr>
              <a:t>Huajun Bai et al. · arXiv:2607.03333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汇报人：张帅    ｜    Agent 动作投机 Survey    ｜    2026.08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外部 Speculator 的成本，也是 Agent 投机的系统瓶颈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97763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背景 / 核心问题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44752"/>
            <a:ext cx="4069080" cy="431596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00784"/>
            <a:ext cx="3639312" cy="379476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外部小模型需要第二份权重/KV cache，且常与 Actor 的真实调用分布不一致。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历史 pattern 对长尾工具和少见参数容易失效。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研究问题：运行中的 LLM 能否足够早、足够准且失败后可回收地预测自己？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主要贡献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444752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73752" y="1627632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636776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591056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D1｜Prefix-KV Fork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975104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首 token 后强制工具前缀，缓存命中将 probe 约 1.6s 降到 0.35s。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752344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73752" y="2935224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944368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898648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D2｜Confidence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282696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用 probe 自身 tool-name logprob，选择最早可信提交时刻。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059935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73752" y="4242816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4251959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4206240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D3｜Token Reuse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4590288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严格拒绝时，把共享工具调用前缀当作 token 草稿。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961888"/>
            <a:ext cx="1132027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035040"/>
            <a:ext cx="1095451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Training-free self-speculation：同一 Actor 、共享 Prefix KV、工具级严格匹配。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同一模型确实“早知道、知道何时可信、失败也不全浪费”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373075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17320"/>
            <a:ext cx="340156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Insight 1｜早知道工具名</a:t>
            </a:r>
          </a:p>
        </p:txBody>
      </p:sp>
      <p:pic>
        <p:nvPicPr>
          <p:cNvPr id="9" name="Picture 8" descr="fig1b_per_turn_fork_accuracy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977392"/>
            <a:ext cx="3474720" cy="29855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212080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tool-name 74.6%–99.6%</a:t>
            </a:r>
            <a:br/>
            <a:r>
              <a:rPr sz="1600" b="1" i="0">
                <a:solidFill>
                  <a:srgbClr val="A60000"/>
                </a:solidFill>
                <a:latin typeface="Microsoft YaHei"/>
              </a:rPr>
              <a:t>args exact 7.6%–83.9%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34440"/>
            <a:ext cx="373075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17320"/>
            <a:ext cx="340156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Insight 2｜信心随 CoT 上升</a:t>
            </a:r>
          </a:p>
        </p:txBody>
      </p:sp>
      <p:pic>
        <p:nvPicPr>
          <p:cNvPr id="13" name="Picture 12" descr="fig_insight2_cot_curve_ga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284300"/>
            <a:ext cx="3474719" cy="23716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6280" y="5212080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GAIA args exact</a:t>
            </a:r>
            <a:br/>
            <a:r>
              <a:rPr sz="1600" b="1" i="0">
                <a:solidFill>
                  <a:srgbClr val="00807B"/>
                </a:solidFill>
                <a:latin typeface="Microsoft YaHei"/>
              </a:rPr>
              <a:t>7.6% → 97.5%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73075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417320"/>
            <a:ext cx="340156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5EA8"/>
                </a:solidFill>
                <a:latin typeface="Microsoft YaHei"/>
              </a:rPr>
              <a:t>Insight 3｜拒绝仍有前缀</a:t>
            </a:r>
          </a:p>
        </p:txBody>
      </p:sp>
      <p:pic>
        <p:nvPicPr>
          <p:cNvPr id="17" name="Picture 16" descr="fig_insight3_prefix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2215284"/>
            <a:ext cx="3474720" cy="25097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58200" y="5212080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中位 18 tokens</a:t>
            </a:r>
            <a:br/>
            <a:r>
              <a:rPr sz="1600" b="1" i="0">
                <a:solidFill>
                  <a:srgbClr val="245EA8"/>
                </a:solidFill>
                <a:latin typeface="Microsoft YaHei"/>
              </a:rPr>
              <a:t>P25 = 14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SPORK 的“分叉—门控—严格验收—前缀回收”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" y="1143000"/>
            <a:ext cx="11503152" cy="5230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_method_overview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96349"/>
            <a:ext cx="11210544" cy="43590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6089904"/>
            <a:ext cx="4069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论文原图：SPORK method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D1 先把“多跑一次模型”的前缀开销压到足够低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207008"/>
            <a:ext cx="6492240" cy="1078992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ormula-spork-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654" y="1417320"/>
            <a:ext cx="4549611" cy="5120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50608" y="1207008"/>
            <a:ext cx="4572000" cy="1078992"/>
          </a:xfrm>
          <a:prstGeom prst="roundRect">
            <a:avLst/>
          </a:prstGeom>
          <a:solidFill>
            <a:srgbClr val="F1FBF9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353312"/>
            <a:ext cx="1143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Break-even</a:t>
            </a:r>
          </a:p>
        </p:txBody>
      </p:sp>
      <p:pic>
        <p:nvPicPr>
          <p:cNvPr id="11" name="Picture 10" descr="formula-spork-brea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7713" y="1353312"/>
            <a:ext cx="2464173" cy="457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2560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7066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090672"/>
            <a:ext cx="3054096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严格命中并接受已执行工具的 turn 比率。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1648" y="2560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7066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t_overlap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090672"/>
            <a:ext cx="3054096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工具执行与主生成真正重叠的时间。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2560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7066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T_oh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3090672"/>
            <a:ext cx="3054096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probe prefill/decode 以及对主流的干扰。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41648"/>
            <a:ext cx="69951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_d1_over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0849" y="4160520"/>
            <a:ext cx="1347860" cy="1600199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699248" y="4041648"/>
            <a:ext cx="4005072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4187952"/>
            <a:ext cx="367588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D1 的实际效果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572000"/>
            <a:ext cx="3675887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等 main 第一个 token 后再发 probe，前缀 KV 已入缓存。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prefill 1.3s → 0.05s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整个 probe 1.6s → 0.35s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main TPOT 干扰约 +0.22%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D2 提高期望重叠，D3 降低失败分支的浪费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5532120" cy="4937760"/>
          </a:xfrm>
          <a:prstGeom prst="roundRect">
            <a:avLst/>
          </a:prstGeom>
          <a:solidFill>
            <a:srgbClr val="F1FBF9"/>
          </a:solidFill>
          <a:ln w="1397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50292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807B"/>
                </a:solidFill>
                <a:latin typeface="Microsoft YaHei"/>
              </a:rPr>
              <a:t>D2｜Adaptive Confidence Gate</a:t>
            </a:r>
          </a:p>
        </p:txBody>
      </p:sp>
      <p:pic>
        <p:nvPicPr>
          <p:cNvPr id="9" name="Picture 8" descr="formula-spork-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299" y="1901952"/>
            <a:ext cx="3284760" cy="585216"/>
          </a:xfrm>
          <a:prstGeom prst="rect">
            <a:avLst/>
          </a:prstGeom>
        </p:spPr>
      </p:pic>
      <p:pic>
        <p:nvPicPr>
          <p:cNvPr id="10" name="Picture 9" descr="fig_d2_confidence_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597" y="2578608"/>
            <a:ext cx="1947884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230368"/>
            <a:ext cx="5029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θ=0.90：Precision 88%，Recall 100%，F1=0.937；过滤 77% probes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532120" cy="4937760"/>
          </a:xfrm>
          <a:prstGeom prst="roundRect">
            <a:avLst/>
          </a:prstGeom>
          <a:solidFill>
            <a:srgbClr val="F4F8FF"/>
          </a:solidFill>
          <a:ln w="1397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63040"/>
            <a:ext cx="50292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45EA8"/>
                </a:solidFill>
                <a:latin typeface="Microsoft YaHei"/>
              </a:rPr>
              <a:t>D3｜Partial-token Accept</a:t>
            </a:r>
          </a:p>
        </p:txBody>
      </p:sp>
      <p:pic>
        <p:nvPicPr>
          <p:cNvPr id="14" name="Picture 13" descr="spork-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306" y="1920240"/>
            <a:ext cx="2975346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4526280"/>
            <a:ext cx="4800600" cy="137160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1A2230"/>
                </a:solidFill>
                <a:latin typeface="Microsoft YaHei"/>
              </a:rPr>
              <a:t>• 主流进入 tool-call opener 时，将 probe body 注入为草稿。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1A2230"/>
                </a:solidFill>
                <a:latin typeface="Microsoft YaHei"/>
              </a:rPr>
              <a:t>• 主模型并行验证，接受最长一致前缀 k。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 b="0">
                <a:solidFill>
                  <a:srgbClr val="1A2230"/>
                </a:solidFill>
                <a:latin typeface="Microsoft YaHei"/>
              </a:rPr>
              <a:t>• 工具级失配仍获得 token 级复用。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SPORK 的收益不大但稳健：主要改善真实工具任务 P95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55732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hero_e2e_spee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311397"/>
            <a:ext cx="5353812" cy="16774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" y="4828032"/>
            <a:ext cx="53172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766"/>
                </a:solidFill>
                <a:latin typeface="Microsoft YaHei"/>
              </a:rPr>
              <a:t>真实 Agent 任务 E2E/P95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4204" y="1325880"/>
            <a:ext cx="55732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operating_regime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585" y="1481328"/>
            <a:ext cx="4504505" cy="3337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32220" y="4828032"/>
            <a:ext cx="53172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766"/>
                </a:solidFill>
                <a:latin typeface="Microsoft YaHei"/>
              </a:rPr>
              <a:t>何时 self-speculation 划算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04688"/>
            <a:ext cx="1938528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559551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807B"/>
                </a:solidFill>
                <a:latin typeface="Microsoft YaHei"/>
              </a:rPr>
              <a:t>-6%∼18%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5980175"/>
            <a:ext cx="1792224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P95 延迟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5504688"/>
            <a:ext cx="1938528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5559551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45EA8"/>
                </a:solidFill>
                <a:latin typeface="Microsoft YaHei"/>
              </a:rPr>
              <a:t>±1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980175"/>
            <a:ext cx="1792224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任务准确率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6048" y="5504688"/>
            <a:ext cx="1938528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5559551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60000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980175"/>
            <a:ext cx="1792224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主要 benchmarks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522976"/>
            <a:ext cx="416052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有利：工具慢 + CoT 窗口长 + 严格命中高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不利：工具快 + 参数晚确定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SPORK 是 Agent 动作投机与 Token 投机解码之间最直接的桥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2286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三句话带走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预测源：当前 Actor 自身 Prefix-KV fork，无额外模型与数据。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两层接受：工具级完整 name+args；失败分支回到 token 级验证。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3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系统经验：用 α·t_overlap 与 T_oh 的 break-even 判断是否划算。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20040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适用边界 / 限制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6903720" cy="22860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813048"/>
            <a:ext cx="6446520" cy="182880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工具名早确定不等于完整参数早确定，严格命中仍是瓶颈。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D3 需修改推理引擎 proposer path；HTTP 控制器只能实现 D1+D2。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对副作用工具，置信门控不能替代隔离/确认。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200400"/>
            <a:ext cx="3657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5EA8"/>
                </a:solidFill>
                <a:latin typeface="Microsoft YaHei"/>
              </a:rPr>
              <a:t>Survey 技术链中的位置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3566160"/>
            <a:ext cx="4096512" cy="22860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3822191"/>
            <a:ext cx="3547872" cy="1737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2230"/>
                </a:solidFill>
                <a:latin typeface="Microsoft YaHei"/>
              </a:rPr>
              <a:t>PASTE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历史轨迹模式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↓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SPORK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同模型 fork + token 前缀回收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SPORK - Agent 动作投机组会汇报</dc:title>
  <dc:subject/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