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这篇工作不是重新设计动作 Speculator，而是回答一个更具体的系统问题：已经有快慢两个 Agent 并行规划时，每一轮到底应该投机多远？我会把重点放在动态 k、在线价值学习和延迟—成本控制。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 k 的问题是它用一个全局常数代替了局部可预测性。简单阶段可能连续命中很多步，复杂阶段第一步就失配。DSP 的三个贡献分别对应分析、预测和部署控制。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这一页先讲清固定 k 基线，否则后面动态预测没有参照。关键是首个失配后的草拟全部作废。因此最优 k 其实是对当前状态可连续命中长度 m 的估计。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DSP 的运行时闭环分成三条线。A 和 T 负责实际规划；预测器在 episode 开始时估计 k，并且与 A 并行来隐藏自身延迟；训练器则等 T 给出标签后在后台更新。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这里不要把 DSP 讲成一个复杂的策略学习问题。它实际上是状态价值回归：用当前轨迹预测还能命中多少步。当 lambda=1 且 gamma=1 时，就是直接用实际 k 做在线监督学习。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论文给出两种控制方式。expectile 是在训练目标上引入高估或低估偏好；offset 则是保持预测器不变，部署时直接加一个 beta。后者更像实际系统中的用户滑杆。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实验在 OpenAGI 和 TravelPlanner 上比较串行、不同 fixed-k 和 DSP。主要结论是 DSP 保留了接近最快固定策略的延迟，但显著减少被取消的额外调用。这页不用反复讲 benchmark 准确率，因为无损性由执行语义得到。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总结时要避免把 DSP 说成更好的动作预测器。它是在现有快慢 Agent 并行基础上计算投机深度。与 Speculative Actions 的关系是：前者定义通用执行语义，DSP 增加深度控制器。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4206240" cy="86696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261872"/>
            <a:ext cx="9646920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84080" y="1261872"/>
            <a:ext cx="1965960" cy="109728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47088"/>
            <a:ext cx="10561320" cy="10058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A60000"/>
                </a:solidFill>
                <a:latin typeface="Microsoft YaHei"/>
              </a:rPr>
              <a:t>Dynamic Speculative Agent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834640"/>
            <a:ext cx="978408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2230"/>
                </a:solidFill>
                <a:latin typeface="Microsoft YaHei"/>
              </a:rPr>
              <a:t>用在线预测的动态投机深度控制延迟—成本权衡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041648"/>
            <a:ext cx="7863840" cy="50292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11680" y="3904487"/>
            <a:ext cx="292608" cy="292608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29000" y="3904487"/>
            <a:ext cx="292608" cy="292608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46320" y="3904487"/>
            <a:ext cx="292608" cy="292608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63640" y="3904487"/>
            <a:ext cx="292608" cy="292608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80960" y="3904487"/>
            <a:ext cx="292608" cy="29260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98280" y="3904487"/>
            <a:ext cx="292608" cy="29260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4535424"/>
            <a:ext cx="4800600" cy="50292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4206240"/>
            <a:ext cx="1417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60000"/>
                </a:solidFill>
                <a:latin typeface="Microsoft YaHei"/>
              </a:rPr>
              <a:t>Authoritative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4608576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07B"/>
                </a:solidFill>
                <a:latin typeface="Microsoft YaHei"/>
              </a:rPr>
              <a:t>Speculative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440680"/>
            <a:ext cx="10789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E5766"/>
                </a:solidFill>
                <a:latin typeface="Microsoft YaHei"/>
              </a:rPr>
              <a:t>Yilin Guan et al. · arXiv:2509.01920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15584"/>
            <a:ext cx="10789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汇报人：张帅    ｜    Agent 动作投机 Survey    ｜    2026.08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37376"/>
            <a:ext cx="11247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自强 · 弘毅 · 求是 · 拓新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为什么固定投机步数 k 不够？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3977639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60000"/>
                </a:solidFill>
                <a:latin typeface="Microsoft YaHei"/>
              </a:rPr>
              <a:t>背景 / 核心问题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444752"/>
            <a:ext cx="4069080" cy="4315968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700784"/>
            <a:ext cx="3639312" cy="3794760"/>
          </a:xfrm>
          <a:prstGeom prst="rect">
            <a:avLst/>
          </a:prstGeom>
          <a:noFill/>
        </p:spPr>
        <p:txBody>
          <a:bodyPr wrap="square" lIns="54864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• Agent 规划串行且延迟高；快 A 可草拟，慢 T 负责权威验证。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• k 太小：并行窗口没吃满；k 太大：失配后的草拟调用全部浪费。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• 同一任务的不同阶段难度不同，不存在始终最优的固定 k。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078992"/>
            <a:ext cx="2743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807B"/>
                </a:solidFill>
                <a:latin typeface="Microsoft YaHei"/>
              </a:rPr>
              <a:t>主要贡献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444752"/>
            <a:ext cx="6995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73752" y="1627632"/>
            <a:ext cx="384048" cy="38404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3752" y="1636776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1591056"/>
            <a:ext cx="61722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Pareto 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1975104"/>
            <a:ext cx="666597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将 k 作为延迟—成本的核心控制量。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752344"/>
            <a:ext cx="6995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73752" y="2935224"/>
            <a:ext cx="384048" cy="38404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3752" y="2944368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8" y="2898648"/>
            <a:ext cx="61722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动态 k 预测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3282696"/>
            <a:ext cx="666597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DistilBERT 状态价值预测器在线学习连续命中长度。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4059935"/>
            <a:ext cx="6995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73752" y="4242816"/>
            <a:ext cx="384048" cy="38404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3752" y="4251959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8" y="4206240"/>
            <a:ext cx="61722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用户可控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3752" y="4590288"/>
            <a:ext cx="666597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expectile 或 offset 将运行点在“更快—更省”间移动。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5961888"/>
            <a:ext cx="11320272" cy="3840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035040"/>
            <a:ext cx="1095451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60000"/>
                </a:solidFill>
                <a:latin typeface="Microsoft YaHei"/>
              </a:rPr>
              <a:t>最终轨迹始终由 Target 决定；动态预测只改变提前执行多远。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固定 k：加速来自并行，浪费来自失配之后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2544318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7512" y="1664208"/>
            <a:ext cx="384048" cy="384048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673352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627632"/>
            <a:ext cx="1721357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A 草拟 k 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011680"/>
            <a:ext cx="2215134" cy="1719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快 Approximation Agent 连续生成未来规划。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47237" y="2660904"/>
            <a:ext cx="228600" cy="0"/>
          </a:xfrm>
          <a:prstGeom prst="line">
            <a:avLst/>
          </a:prstGeom>
          <a:ln w="25400">
            <a:solidFill>
              <a:srgbClr val="A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03270" y="1481328"/>
            <a:ext cx="2544318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67862" y="1664208"/>
            <a:ext cx="384048" cy="38404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7862" y="1673352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1637" y="1627632"/>
            <a:ext cx="1721357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07B"/>
                </a:solidFill>
                <a:latin typeface="Microsoft YaHei"/>
              </a:rPr>
              <a:t>T 并行验证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7862" y="2011680"/>
            <a:ext cx="2215134" cy="1719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慢 Target Agent 从同一状态生成权威步骤。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47588" y="2660904"/>
            <a:ext cx="228600" cy="0"/>
          </a:xfrm>
          <a:prstGeom prst="line">
            <a:avLst/>
          </a:prstGeom>
          <a:ln w="25400">
            <a:solidFill>
              <a:srgbClr val="008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03620" y="1481328"/>
            <a:ext cx="2544318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68212" y="1664208"/>
            <a:ext cx="384048" cy="384048"/>
          </a:xfrm>
          <a:prstGeom prst="ellipse">
            <a:avLst/>
          </a:prstGeom>
          <a:solidFill>
            <a:srgbClr val="24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8212" y="1673352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1988" y="1627632"/>
            <a:ext cx="1721357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5EA8"/>
                </a:solidFill>
                <a:latin typeface="Microsoft YaHei"/>
              </a:rPr>
              <a:t>首个 mismatch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8212" y="2011680"/>
            <a:ext cx="2215134" cy="1719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取消失配点之后所有未确认线程。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47938" y="2660904"/>
            <a:ext cx="228600" cy="0"/>
          </a:xfrm>
          <a:prstGeom prst="line">
            <a:avLst/>
          </a:prstGeom>
          <a:ln w="25400">
            <a:solidFill>
              <a:srgbClr val="245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03970" y="1481328"/>
            <a:ext cx="2544318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68562" y="1664208"/>
            <a:ext cx="384048" cy="384048"/>
          </a:xfrm>
          <a:prstGeom prst="ellipse">
            <a:avLst/>
          </a:prstGeom>
          <a:solidFill>
            <a:srgbClr val="C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68562" y="1673352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62338" y="1627632"/>
            <a:ext cx="1721357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D2D2D"/>
                </a:solidFill>
                <a:latin typeface="Microsoft YaHei"/>
              </a:rPr>
              <a:t>跟随 T 恢复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8562" y="2011680"/>
            <a:ext cx="2215134" cy="1719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从 Target 的正确步骤继续，保持轨迹一致。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20624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4352544"/>
            <a:ext cx="319125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45EA8"/>
                </a:solidFill>
                <a:latin typeface="Microsoft YaHei"/>
              </a:rPr>
              <a:t>k &lt; 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4736592"/>
            <a:ext cx="3191256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冗余少，但留下未利用并行窗口。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79" y="420624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62271" y="4352544"/>
            <a:ext cx="319125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k ≈ 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2271" y="4736592"/>
            <a:ext cx="3191256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接近实际连续命中长度，收益最好。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19" y="420624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1311" y="4352544"/>
            <a:ext cx="319125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0000"/>
                </a:solidFill>
                <a:latin typeface="Microsoft YaHei"/>
              </a:rPr>
              <a:t>k &gt; 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1" y="4736592"/>
            <a:ext cx="3191256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延迟不再下降，token/API 冗余上升。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DSP：在每个投机 episode 中动态决定 k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78308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792224"/>
            <a:ext cx="1636776" cy="7498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状态 s_i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0" y="2167128"/>
            <a:ext cx="45720" cy="0"/>
          </a:xfrm>
          <a:prstGeom prst="line">
            <a:avLst/>
          </a:prstGeom>
          <a:ln w="21590">
            <a:solidFill>
              <a:srgbClr val="4E5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31720" y="1600200"/>
            <a:ext cx="178308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04872" y="1792224"/>
            <a:ext cx="1636776" cy="7498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5EA8"/>
                </a:solidFill>
                <a:latin typeface="Microsoft YaHei"/>
              </a:rPr>
              <a:t>Predictor</a:t>
            </a:r>
            <a:br/>
            <a:r>
              <a:rPr sz="1500" b="1" i="0">
                <a:solidFill>
                  <a:srgbClr val="245EA8"/>
                </a:solidFill>
                <a:latin typeface="Microsoft YaHei"/>
              </a:rPr>
              <a:t>Vθ(s_i) → k_i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0" y="2167128"/>
            <a:ext cx="502920" cy="0"/>
          </a:xfrm>
          <a:prstGeom prst="line">
            <a:avLst/>
          </a:prstGeom>
          <a:ln w="21590">
            <a:solidFill>
              <a:srgbClr val="4E5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17720" y="1600200"/>
            <a:ext cx="178308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1792224"/>
            <a:ext cx="1636776" cy="7498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07B"/>
                </a:solidFill>
                <a:latin typeface="Microsoft YaHei"/>
              </a:rPr>
              <a:t>Approximation A</a:t>
            </a:r>
            <a:br/>
            <a:r>
              <a:rPr sz="1500" b="1" i="0">
                <a:solidFill>
                  <a:srgbClr val="00807B"/>
                </a:solidFill>
                <a:latin typeface="Microsoft YaHei"/>
              </a:rPr>
              <a:t>最多草拟 k_i 步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0" y="2167128"/>
            <a:ext cx="868680" cy="0"/>
          </a:xfrm>
          <a:prstGeom prst="line">
            <a:avLst/>
          </a:prstGeom>
          <a:ln w="21590">
            <a:solidFill>
              <a:srgbClr val="4E5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269480" y="1600200"/>
            <a:ext cx="178308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2631" y="1792224"/>
            <a:ext cx="1636776" cy="7498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Target T</a:t>
            </a:r>
            <a:br/>
            <a:r>
              <a:rPr sz="1500" b="1" i="0">
                <a:solidFill>
                  <a:srgbClr val="A60000"/>
                </a:solidFill>
                <a:latin typeface="Microsoft YaHei"/>
              </a:rPr>
              <a:t>并行逐步验证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52560" y="2167128"/>
            <a:ext cx="685800" cy="0"/>
          </a:xfrm>
          <a:prstGeom prst="line">
            <a:avLst/>
          </a:prstGeom>
          <a:ln w="21590">
            <a:solidFill>
              <a:srgbClr val="4E5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738360" y="1600200"/>
            <a:ext cx="178308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9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11512" y="1792224"/>
            <a:ext cx="1636776" cy="7498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97E00"/>
                </a:solidFill>
                <a:latin typeface="Microsoft YaHei"/>
              </a:rPr>
              <a:t>Stop / Recover</a:t>
            </a:r>
            <a:br/>
            <a:r>
              <a:rPr sz="1500" b="1" i="0">
                <a:solidFill>
                  <a:srgbClr val="B97E00"/>
                </a:solidFill>
                <a:latin typeface="Microsoft YaHei"/>
              </a:rPr>
              <a:t>命中 k_i 或首个失配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48840" y="3246120"/>
            <a:ext cx="7955279" cy="1234440"/>
          </a:xfrm>
          <a:prstGeom prst="roundRect">
            <a:avLst/>
          </a:prstGeom>
          <a:solidFill>
            <a:srgbClr val="F4F8FF"/>
          </a:solidFill>
          <a:ln w="13970">
            <a:solidFill>
              <a:srgbClr val="2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95728" y="3419856"/>
            <a:ext cx="22402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45EA8"/>
                </a:solidFill>
                <a:latin typeface="Microsoft YaHei"/>
              </a:rPr>
              <a:t>Online Trainer（后台异步）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383280"/>
            <a:ext cx="525780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2230"/>
                </a:solidFill>
                <a:latin typeface="Microsoft YaHei"/>
              </a:rPr>
              <a:t>用 Target 得到的实际连续命中长度构造 (s,k) → 更新 training copy → 热同步 inference copy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966960" y="2743200"/>
            <a:ext cx="0" cy="1115568"/>
          </a:xfrm>
          <a:prstGeom prst="line">
            <a:avLst/>
          </a:prstGeom>
          <a:ln w="16510">
            <a:solidFill>
              <a:srgbClr val="245E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331720" y="2743200"/>
            <a:ext cx="0" cy="1115568"/>
          </a:xfrm>
          <a:prstGeom prst="line">
            <a:avLst/>
          </a:prstGeom>
          <a:ln w="16510">
            <a:solidFill>
              <a:srgbClr val="245E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66928" y="4919472"/>
            <a:ext cx="3474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065776"/>
            <a:ext cx="314553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A/T 主执行线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49824"/>
            <a:ext cx="3145536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决定权威轨迹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5968" y="4919472"/>
            <a:ext cx="3474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59" y="5065776"/>
            <a:ext cx="314553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07B"/>
                </a:solidFill>
                <a:latin typeface="Microsoft YaHei"/>
              </a:rPr>
              <a:t>Predictor inference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59" y="5449824"/>
            <a:ext cx="3145536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与 A 当前步并行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5007" y="4919472"/>
            <a:ext cx="3474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9" y="5065776"/>
            <a:ext cx="314553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5EA8"/>
                </a:solidFill>
                <a:latin typeface="Microsoft YaHei"/>
              </a:rPr>
              <a:t>Trainer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9" y="5449824"/>
            <a:ext cx="3145536" cy="4114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不阻塞当前任务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预测“还能连续命中几步”：状态价值建模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3749039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72184"/>
            <a:ext cx="341985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0000"/>
                </a:solidFill>
                <a:latin typeface="Microsoft YaHei"/>
              </a:rPr>
              <a:t>状态与回报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56231"/>
            <a:ext cx="3419856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s_t 是已验证轨迹；G_t 是到首次 mismatch 之前的实际连续命中步数。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325880"/>
            <a:ext cx="7178040" cy="123444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ormula-dsp-va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382" y="1609344"/>
            <a:ext cx="4563835" cy="5943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02920" y="2788920"/>
            <a:ext cx="3749039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935224"/>
            <a:ext cx="341985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TD / λ-return 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319272"/>
            <a:ext cx="3419856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DistilBERT 只回归 Vθ(s)，不负责生成 Agent 动作。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2788920"/>
            <a:ext cx="7178040" cy="1325880"/>
          </a:xfrm>
          <a:prstGeom prst="roundRect">
            <a:avLst/>
          </a:prstGeom>
          <a:solidFill>
            <a:srgbClr val="F1FBF9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ormula-dsp-l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3025" y="2971800"/>
            <a:ext cx="4818828" cy="502920"/>
          </a:xfrm>
          <a:prstGeom prst="rect">
            <a:avLst/>
          </a:prstGeom>
        </p:spPr>
      </p:pic>
      <p:pic>
        <p:nvPicPr>
          <p:cNvPr id="17" name="Picture 16" descr="formula-dsp-lamb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6799" y="3456432"/>
            <a:ext cx="3880424" cy="50292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94360" y="461772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4764024"/>
            <a:ext cx="30540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45EA8"/>
                </a:solidFill>
                <a:latin typeface="Microsoft YaHei"/>
              </a:rPr>
              <a:t>λ =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5148072"/>
            <a:ext cx="3054096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更接近 1-step TD，方差小、偏差大。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7408" y="461772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764024"/>
            <a:ext cx="30540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0 &lt; λ &lt;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148072"/>
            <a:ext cx="3054096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在短期 bootstrap 与完整回报之间做权衡。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02168" y="461772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4764024"/>
            <a:ext cx="30540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0000"/>
                </a:solidFill>
                <a:latin typeface="Microsoft YaHei"/>
              </a:rPr>
              <a:t>λ = 1, γ =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148072"/>
            <a:ext cx="3054096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G_t = k，退化为在线监督回归可命中步数。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一个预测器，两种“更激进 / 更保守”控制方式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7033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517904"/>
            <a:ext cx="337413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A60000"/>
                </a:solidFill>
                <a:latin typeface="Microsoft YaHei"/>
              </a:rPr>
              <a:t>A｜Biased value / expectile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01952"/>
            <a:ext cx="3374136" cy="1417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用非对称损失让估计更偏高或偏低。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τ &gt; 0.5：更激进、更低延迟、更高成本。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τ &lt; 0.5：更保守、更少冗余。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703320"/>
            <a:ext cx="37033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3849624"/>
            <a:ext cx="337413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B｜Unbiased value + offset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4233672"/>
            <a:ext cx="3374136" cy="1417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保持价值估计无偏，部署时用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k = clip(round(Vθ(s)) + β)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β &gt; 0 向速度端移动；β &lt; 0 向成本端移动。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371600"/>
            <a:ext cx="7150608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sp-cost-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424" y="1572768"/>
            <a:ext cx="6370319" cy="38221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0" y="5413248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4E5766"/>
                </a:solidFill>
                <a:latin typeface="Microsoft YaHei"/>
              </a:rPr>
              <a:t>论文原图：OpenAGI ReAct cost comparison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5806440"/>
            <a:ext cx="7150608" cy="384048"/>
          </a:xfrm>
          <a:prstGeom prst="roundRect">
            <a:avLst/>
          </a:prstGeom>
          <a:solidFill>
            <a:srgbClr val="F4F8FF"/>
          </a:solidFill>
          <a:ln w="10160">
            <a:solidFill>
              <a:srgbClr val="2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5879592"/>
            <a:ext cx="67848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45EA8"/>
                </a:solidFill>
                <a:latin typeface="Microsoft YaHei"/>
              </a:rPr>
              <a:t>每个 τ / β 都是 Pareto 平面上一个可配置运行点，不是准确率调参。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动态 k 追平最快 fixed-k，但减少无效调用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557326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sp-gen-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555995"/>
            <a:ext cx="5353812" cy="31882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9496" y="4828032"/>
            <a:ext cx="531723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766"/>
                </a:solidFill>
                <a:latin typeface="Microsoft YaHei"/>
              </a:rPr>
              <a:t>生成量—延迟关系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4204" y="1325880"/>
            <a:ext cx="5573268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sp-cost-contr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932" y="1543964"/>
            <a:ext cx="5353812" cy="32122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32220" y="4828032"/>
            <a:ext cx="531723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766"/>
                </a:solidFill>
                <a:latin typeface="Microsoft YaHei"/>
              </a:rPr>
              <a:t>成本—延迟 Pareto 对比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504688"/>
            <a:ext cx="1938528" cy="786384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5559551"/>
            <a:ext cx="17556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807B"/>
                </a:solidFill>
                <a:latin typeface="Microsoft YaHei"/>
              </a:rPr>
              <a:t>≈ fastest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5980175"/>
            <a:ext cx="1792224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766"/>
                </a:solidFill>
                <a:latin typeface="Microsoft YaHei"/>
              </a:rPr>
              <a:t>延迟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07208" y="5504688"/>
            <a:ext cx="1938528" cy="786384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5559551"/>
            <a:ext cx="17556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A60000"/>
                </a:solidFill>
                <a:latin typeface="Microsoft YaHei"/>
              </a:rPr>
              <a:t>-30%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5980175"/>
            <a:ext cx="1792224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766"/>
                </a:solidFill>
                <a:latin typeface="Microsoft YaHei"/>
              </a:rPr>
              <a:t>总成本（最多）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56048" y="5504688"/>
            <a:ext cx="1938528" cy="786384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2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5559551"/>
            <a:ext cx="175564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45EA8"/>
                </a:solidFill>
                <a:latin typeface="Microsoft YaHei"/>
              </a:rPr>
              <a:t>-60%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980175"/>
            <a:ext cx="1792224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766"/>
                </a:solidFill>
                <a:latin typeface="Microsoft YaHei"/>
              </a:rPr>
              <a:t>无效成本（最多）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522976"/>
            <a:ext cx="4160520" cy="6766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实验重点是成本和延迟；质量不降由“最终跟随 Target”保证。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DSP 解决的是“投机多远”，不是“如何预测动作”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22860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807B"/>
                </a:solidFill>
                <a:latin typeface="Microsoft YaHei"/>
              </a:rPr>
              <a:t>三句话带走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1481328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31272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127248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核心对象：动态投机深度 k，匹配状态的局部可预测性。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481328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627632"/>
            <a:ext cx="31272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45EA8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011680"/>
            <a:ext cx="3127248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方法关键：将连续命中长度写成状态价值，异步在线更新。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481328"/>
            <a:ext cx="345643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023" y="1627632"/>
            <a:ext cx="31272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3" y="2011680"/>
            <a:ext cx="3127248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系统意义：在不改变 Target 轨迹前提下，显式配置速度—成本点。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200400"/>
            <a:ext cx="2743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60000"/>
                </a:solidFill>
                <a:latin typeface="Microsoft YaHei"/>
              </a:rPr>
              <a:t>适用边界 / 限制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66160"/>
            <a:ext cx="6903720" cy="228600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3813048"/>
            <a:ext cx="6446520" cy="1828800"/>
          </a:xfrm>
          <a:prstGeom prst="rect">
            <a:avLst/>
          </a:prstGeom>
          <a:noFill/>
        </p:spPr>
        <p:txBody>
          <a:bodyPr wrap="square" lIns="54864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• 未动态选择 Approximation Agent，仍受 A/T 速度比和一致性限制。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• 严格步骤对齐可能拒绝语义等价规划。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500" b="0">
                <a:solidFill>
                  <a:srgbClr val="1A2230"/>
                </a:solidFill>
                <a:latin typeface="Microsoft YaHei"/>
              </a:rPr>
              <a:t>• 在线冷启动和跨域泛化证据仍有限。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200400"/>
            <a:ext cx="36576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45EA8"/>
                </a:solidFill>
                <a:latin typeface="Microsoft YaHei"/>
              </a:rPr>
              <a:t>Survey 技术链中的位置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07808" y="3566160"/>
            <a:ext cx="4096512" cy="228600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2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7" y="3822191"/>
            <a:ext cx="3547872" cy="17373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2230"/>
                </a:solidFill>
                <a:latin typeface="Microsoft YaHei"/>
              </a:rPr>
              <a:t>Speculative Actions</a:t>
            </a:r>
            <a:br/>
            <a:r>
              <a:rPr sz="1700" b="0" i="0">
                <a:solidFill>
                  <a:srgbClr val="1A2230"/>
                </a:solidFill>
                <a:latin typeface="Microsoft YaHei"/>
              </a:rPr>
              <a:t>预测—验证—提交</a:t>
            </a:r>
            <a:br/>
            <a:r>
              <a:rPr sz="1700" b="0" i="0">
                <a:solidFill>
                  <a:srgbClr val="1A2230"/>
                </a:solidFill>
                <a:latin typeface="Microsoft YaHei"/>
              </a:rPr>
              <a:t>↓</a:t>
            </a:r>
            <a:br/>
            <a:r>
              <a:rPr sz="1700" b="0" i="0">
                <a:solidFill>
                  <a:srgbClr val="1A2230"/>
                </a:solidFill>
                <a:latin typeface="Microsoft YaHei"/>
              </a:rPr>
              <a:t>DSP</a:t>
            </a:r>
            <a:br/>
            <a:r>
              <a:rPr sz="1700" b="0" i="0">
                <a:solidFill>
                  <a:srgbClr val="1A2230"/>
                </a:solidFill>
                <a:latin typeface="Microsoft YaHei"/>
              </a:rPr>
              <a:t>在线动态深度 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DSP - Agent 动作投机组会汇报</dc:title>
  <dc:subject/>
  <dc:creator>张帅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