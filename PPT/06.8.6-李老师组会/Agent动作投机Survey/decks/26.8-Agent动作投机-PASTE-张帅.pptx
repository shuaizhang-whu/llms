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PASTE 是一篇非常适合从算法过渡到系统的论文。它不只讨论怎么猜下一工具，还讨论提前执行后如何隔离、调度，以及工具变快后怎么避免 GPU 突然拥塞。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这页用两个观察建立问题。第一，工具在关键路径上占比很高；第二，现有 Agent 虽然在语义上必须等上一步，但某些工具序列和参数来源是可预测的。PASTE 的贡献是把这个机会做成一个全栈系统。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这张总图的阅读顺序是从预测、到工具侧执行、再到 LLM 侧恢复。最重要的无损约束是：Pattern Analyzer 只产生候选，预执行结果先隔离，只有权威调用完整命中后才进入 session。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 Analyzer 与用一个小模型直接猜调用不同。它的预测来源是历史轨迹的重复结构，并且一定要把参数来源解析出来，否则只知道下一个是 Visit 也无法执行。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这页要强调提前执行和提前提交是两件事。无损性依赖隔离，并且权威调用拥有资源优先级。Promote 是一个很实用的状态：真实调用到来时，同一投机 job 正在跑，不用重新发起。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 PASTE 最有系统味道的一页。工具更早返回会让大量会话更集中地进入 GPU，如果不做 pacing，可能工具时间减少但 LLM 排队上升。因此应用层预测必须与 serving 调度协同。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PASTE 在 deep research、coding 和 scientific-agent 工作负载上与 vLLM、Agentix、ORION 和 SpecFaaS 比较。最值得讲的不是单一平均数字，而是消融证明 Tool-only 会把瓶颈挪到 GPU 队列，只有完整 PASTE 同时改善两侧。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PASTE 在 Survey 中的价值是它告诉我们：动作投机不是只把一个小模型接在 Agent 旁边。真实部署需要参数实例化、工具隔离和跨资源域调度。它的主要边界则是对重复 pattern 和可安全提前执行工具的依赖。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206240" cy="8669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646920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1261872"/>
            <a:ext cx="1965960" cy="109728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056132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A60000"/>
                </a:solidFill>
                <a:latin typeface="Microsoft YaHei"/>
              </a:rPr>
              <a:t>PASTE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978408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2230"/>
                </a:solidFill>
                <a:latin typeface="Microsoft YaHei"/>
              </a:rPr>
              <a:t>Parallelizing Tool Execution and LLM Generation for Low-Latency Agent Serving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041648"/>
            <a:ext cx="7863840" cy="50292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2900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364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0" y="3904487"/>
            <a:ext cx="292608" cy="29260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3904487"/>
            <a:ext cx="292608" cy="29260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4535424"/>
            <a:ext cx="4800600" cy="50292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206240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0000"/>
                </a:solidFill>
                <a:latin typeface="Microsoft YaHei"/>
              </a:rPr>
              <a:t>Authoritative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608576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07B"/>
                </a:solidFill>
                <a:latin typeface="Microsoft YaHei"/>
              </a:rPr>
              <a:t>Speculative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5766"/>
                </a:solidFill>
                <a:latin typeface="Microsoft YaHei"/>
              </a:rPr>
              <a:t>Yifan Sui et al. · arXiv:2603.18897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汇报人：张帅    ｜    Agent 动作投机 Survey    ｜    2026.08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Agent Serving 的关键路径不只是 LLM，工具占 45%–57%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3977639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60000"/>
                </a:solidFill>
                <a:latin typeface="Microsoft YaHei"/>
              </a:rPr>
              <a:t>背景 / 核心问题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444752"/>
            <a:ext cx="4069080" cy="4315968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00784"/>
            <a:ext cx="3639312" cy="379476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LLM 生成 → 工具调用 → 等待 → LLM 恢复，语义依赖被实现成物理串行。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Deep research、coding、AI4Science 中，工具执行占 E2E 延迟 45%–57%。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要隐藏 exposed tool time，必须在 LLM 尚未输出时得到具体 (tool, args)。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078992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807B"/>
                </a:solidFill>
                <a:latin typeface="Microsoft YaHei"/>
              </a:rPr>
              <a:t>主要贡献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444752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73752" y="1627632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1636776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1591056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Pattern Analyzer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1975104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抽取重复控制流+隐式数据流，实例化未来调用。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752344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73752" y="2935224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2944368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898648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Tool Scheduler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3282696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准入、隔离、确认/提升/丢弃，权威调用优先。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4059935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73752" y="4242816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4251959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4206240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LLM–Tool Co-Scheduler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4590288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节奏化 returning sessions，不让工具侧收益变成 GPU 排队。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5413248"/>
            <a:ext cx="2011680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5468112"/>
            <a:ext cx="1828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A60000"/>
                </a:solidFill>
                <a:latin typeface="Microsoft YaHei"/>
              </a:rPr>
              <a:t>-43.5%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5888736"/>
            <a:ext cx="186537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平均任务时间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76872" y="5413248"/>
            <a:ext cx="2011680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68312" y="5468112"/>
            <a:ext cx="1828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807B"/>
                </a:solidFill>
                <a:latin typeface="Microsoft YaHei"/>
              </a:rPr>
              <a:t>1.8×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0024" y="5888736"/>
            <a:ext cx="186537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更低工具延迟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5961888"/>
            <a:ext cx="11320272" cy="384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035040"/>
            <a:ext cx="1095451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0000"/>
                </a:solidFill>
                <a:latin typeface="Microsoft YaHei"/>
              </a:rPr>
              <a:t>预测命中 ≠ E2E 一定变快；必须联合考虑工具与 LLM 两个资源域。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PASTE 不是单一预测器，而是三个闭环调度组件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74523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ste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030" y="1417320"/>
            <a:ext cx="5366403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5742432"/>
            <a:ext cx="4297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4E5766"/>
                </a:solidFill>
                <a:latin typeface="Microsoft YaHei"/>
              </a:rPr>
              <a:t>论文原图：PASTE system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216152"/>
            <a:ext cx="3611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362456"/>
            <a:ext cx="32826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0000"/>
                </a:solidFill>
                <a:latin typeface="Microsoft YaHei"/>
              </a:rPr>
              <a:t>1  Mining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746504"/>
            <a:ext cx="32826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历史 session 提取稳定工具转移和参数派生规则。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2185416"/>
            <a:ext cx="3611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331720"/>
            <a:ext cx="32826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2  Instantiation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715768"/>
            <a:ext cx="32826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用当前上下文填充 pattern，得到具体 (tool,args)。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154680"/>
            <a:ext cx="3611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3300984"/>
            <a:ext cx="32826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5EA8"/>
                </a:solidFill>
                <a:latin typeface="Microsoft YaHei"/>
              </a:rPr>
              <a:t>3  Speculation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685032"/>
            <a:ext cx="32826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选择性提前执行，结果先进隔离区。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4123944"/>
            <a:ext cx="3611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4270248"/>
            <a:ext cx="32826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0000"/>
                </a:solidFill>
                <a:latin typeface="Microsoft YaHei"/>
              </a:rPr>
              <a:t>4 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4654296"/>
            <a:ext cx="32826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权威调用到达时规范化比较 name+args。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5093208"/>
            <a:ext cx="3611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5239512"/>
            <a:ext cx="32826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5  Pacing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5623560"/>
            <a:ext cx="32826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使用工具侧信号控制 session 返回 LLM 的节奏。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6080760"/>
            <a:ext cx="3611880" cy="320040"/>
          </a:xfrm>
          <a:prstGeom prst="roundRect">
            <a:avLst/>
          </a:prstGeom>
          <a:solidFill>
            <a:srgbClr val="FFF5F5"/>
          </a:solidFill>
          <a:ln w="1016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6135624"/>
            <a:ext cx="3291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未确认结果对 Agent 不可见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从“经常这样做”到“现在可以提前执行”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2544318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664208"/>
            <a:ext cx="384048" cy="38404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7335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627632"/>
            <a:ext cx="172135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控制流挖掘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011680"/>
            <a:ext cx="2215134" cy="1719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Search → Visit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Edit → Test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Grep → FileEditor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47237" y="2660904"/>
            <a:ext cx="228600" cy="0"/>
          </a:xfrm>
          <a:prstGeom prst="line">
            <a:avLst/>
          </a:prstGeom>
          <a:ln w="25400">
            <a:solidFill>
              <a:srgbClr val="A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03270" y="1481328"/>
            <a:ext cx="2544318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67862" y="1664208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7862" y="167335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1637" y="1627632"/>
            <a:ext cx="172135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数据流学习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7862" y="2011680"/>
            <a:ext cx="2215134" cy="1719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下一工具参数来自上一输出或当前 session 字段。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47588" y="2660904"/>
            <a:ext cx="228600" cy="0"/>
          </a:xfrm>
          <a:prstGeom prst="line">
            <a:avLst/>
          </a:prstGeom>
          <a:ln w="2540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03620" y="1481328"/>
            <a:ext cx="2544318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68212" y="1664208"/>
            <a:ext cx="384048" cy="384048"/>
          </a:xfrm>
          <a:prstGeom prst="ellipse">
            <a:avLst/>
          </a:prstGeom>
          <a:solidFill>
            <a:srgbClr val="24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8212" y="167335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1988" y="1627632"/>
            <a:ext cx="172135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5EA8"/>
                </a:solidFill>
                <a:latin typeface="Microsoft YaHei"/>
              </a:rPr>
              <a:t>在线实例化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8212" y="2011680"/>
            <a:ext cx="2215134" cy="1719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只当所需输入已出现，才生成具体 tool+args。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47938" y="2660904"/>
            <a:ext cx="228600" cy="0"/>
          </a:xfrm>
          <a:prstGeom prst="line">
            <a:avLst/>
          </a:prstGeom>
          <a:ln w="25400">
            <a:solidFill>
              <a:srgbClr val="245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03970" y="1481328"/>
            <a:ext cx="2544318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68562" y="1664208"/>
            <a:ext cx="384048" cy="384048"/>
          </a:xfrm>
          <a:prstGeom prst="ellipse">
            <a:avLst/>
          </a:prstGeom>
          <a:solidFill>
            <a:srgbClr val="C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8562" y="167335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2338" y="1627632"/>
            <a:ext cx="172135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D2D2D"/>
                </a:solidFill>
                <a:latin typeface="Microsoft YaHei"/>
              </a:rPr>
              <a:t>调度器仲裁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8562" y="2011680"/>
            <a:ext cx="2215134" cy="1719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多个 pattern 冲突时，按收益、置信度和资源准入。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160520"/>
            <a:ext cx="11064240" cy="1783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425696"/>
            <a:ext cx="10515600" cy="11430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</a:rPr>
              <a:t>Search("DSP paper") 已返回 URL → 从当前上下文抽取 URL → LLM 还在生成时预先执行 Visit(url)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提前运行不等于提前提交：完整的投机生命周期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5</a:t>
            </a:r>
          </a:p>
        </p:txBody>
      </p:sp>
      <p:pic>
        <p:nvPicPr>
          <p:cNvPr id="7" name="Picture 6" descr="paste-tool-lif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75" y="1207008"/>
            <a:ext cx="6494568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0" y="3950208"/>
            <a:ext cx="3657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4E5766"/>
                </a:solidFill>
                <a:latin typeface="Microsoft YaHei"/>
              </a:rPr>
              <a:t>论文原图：speculative tool execution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4343400"/>
            <a:ext cx="93268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4517136"/>
            <a:ext cx="8778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07B"/>
                </a:solidFill>
                <a:latin typeface="Microsoft YaHei"/>
              </a:rPr>
              <a:t>Candidate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71600" y="4672584"/>
            <a:ext cx="164592" cy="0"/>
          </a:xfrm>
          <a:prstGeom prst="line">
            <a:avLst/>
          </a:prstGeom>
          <a:ln w="1524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554480" y="4343400"/>
            <a:ext cx="93268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912" y="4517136"/>
            <a:ext cx="8778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07B"/>
                </a:solidFill>
                <a:latin typeface="Microsoft YaHei"/>
              </a:rPr>
              <a:t>Admitted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87168" y="4672584"/>
            <a:ext cx="164592" cy="0"/>
          </a:xfrm>
          <a:prstGeom prst="line">
            <a:avLst/>
          </a:prstGeom>
          <a:ln w="1524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670048" y="4343400"/>
            <a:ext cx="93268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79" y="4517136"/>
            <a:ext cx="8778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5EA8"/>
                </a:solidFill>
                <a:latin typeface="Microsoft YaHei"/>
              </a:rPr>
              <a:t>Running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02736" y="4672584"/>
            <a:ext cx="164592" cy="0"/>
          </a:xfrm>
          <a:prstGeom prst="line">
            <a:avLst/>
          </a:prstGeom>
          <a:ln w="1524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785616" y="4343400"/>
            <a:ext cx="93268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13048" y="4517136"/>
            <a:ext cx="8778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07B"/>
                </a:solidFill>
                <a:latin typeface="Microsoft YaHei"/>
              </a:rPr>
              <a:t>Reuse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18304" y="4672584"/>
            <a:ext cx="164592" cy="0"/>
          </a:xfrm>
          <a:prstGeom prst="line">
            <a:avLst/>
          </a:prstGeom>
          <a:ln w="1524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901183" y="4343400"/>
            <a:ext cx="93268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28616" y="4517136"/>
            <a:ext cx="8778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5EA8"/>
                </a:solidFill>
                <a:latin typeface="Microsoft YaHei"/>
              </a:rPr>
              <a:t>Promote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33871" y="4672584"/>
            <a:ext cx="164593" cy="0"/>
          </a:xfrm>
          <a:prstGeom prst="line">
            <a:avLst/>
          </a:prstGeom>
          <a:ln w="1524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016752" y="4343400"/>
            <a:ext cx="93268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44184" y="4517136"/>
            <a:ext cx="8778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0000"/>
                </a:solidFill>
                <a:latin typeface="Microsoft YaHei"/>
              </a:rPr>
              <a:t>Discard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24927" y="1298448"/>
            <a:ext cx="429768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19" y="1444751"/>
            <a:ext cx="39684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准入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1828800"/>
            <a:ext cx="3968496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预计可隐藏工具时间 &gt; 调度与资源机会成本。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24927" y="2560320"/>
            <a:ext cx="429768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19" y="2706624"/>
            <a:ext cx="39684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5EA8"/>
                </a:solidFill>
                <a:latin typeface="Microsoft YaHei"/>
              </a:rPr>
              <a:t>隔离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19" y="3090672"/>
            <a:ext cx="3968496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结果进 speculative store，不写 authoritative session state。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24927" y="3822191"/>
            <a:ext cx="429768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19" y="3968496"/>
            <a:ext cx="39684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严格匹配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19" y="4352544"/>
            <a:ext cx="3968496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工具名+规范化参数一致才能 reuse；同一运行 job 可 promote。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321808"/>
            <a:ext cx="11045952" cy="612648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504688"/>
            <a:ext cx="1062532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0000"/>
                </a:solidFill>
                <a:latin typeface="Microsoft YaHei"/>
              </a:rPr>
              <a:t>安全：优先只读 / 幂等 / 可隔离工具；有副作用工具需显式策略、sandbox 或非变更版本。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工具侧变快后，为什么 E2E 反而可能变慢？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61872"/>
            <a:ext cx="25146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3317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工具更早完成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1636776"/>
            <a:ext cx="283464" cy="0"/>
          </a:xfrm>
          <a:prstGeom prst="line">
            <a:avLst/>
          </a:prstGeom>
          <a:ln w="1905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64408" y="1261872"/>
            <a:ext cx="25146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463040"/>
            <a:ext cx="23317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5EA8"/>
                </a:solidFill>
                <a:latin typeface="Microsoft YaHei"/>
              </a:rPr>
              <a:t>Returning sessions 突然增加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79008" y="1636776"/>
            <a:ext cx="283464" cy="0"/>
          </a:xfrm>
          <a:prstGeom prst="line">
            <a:avLst/>
          </a:prstGeom>
          <a:ln w="1905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17336" y="1261872"/>
            <a:ext cx="25146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463040"/>
            <a:ext cx="23317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GPU/KV 压力上升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31936" y="1636776"/>
            <a:ext cx="283464" cy="0"/>
          </a:xfrm>
          <a:prstGeom prst="line">
            <a:avLst/>
          </a:prstGeom>
          <a:ln w="1905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70263" y="1261872"/>
            <a:ext cx="25146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3" y="1463040"/>
            <a:ext cx="23317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Queueing 抵消收益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331720"/>
            <a:ext cx="5623560" cy="3364992"/>
          </a:xfrm>
          <a:prstGeom prst="roundRect">
            <a:avLst/>
          </a:prstGeom>
          <a:solidFill>
            <a:srgbClr val="F1FBF9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578608"/>
            <a:ext cx="5074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807B"/>
                </a:solidFill>
                <a:latin typeface="Microsoft YaHei"/>
              </a:rPr>
              <a:t>LLM–Tool Co-Scheduler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63240"/>
            <a:ext cx="5010912" cy="228600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• 观测工具完成、reuse/promotion 和已隐藏时间。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• 联合观测 active requests、decode batch、context/KV pressure。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• GPU 过载时限制同时恢复数；利用不足时快速放行。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• 目标：将工具侧 overlap 真正转化为 task E2E 收益。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2331720"/>
            <a:ext cx="5413248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aste-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974" y="2487168"/>
            <a:ext cx="4579442" cy="2697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15200" y="5248656"/>
            <a:ext cx="3977639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4E5766"/>
                </a:solidFill>
                <a:latin typeface="Microsoft YaHei"/>
              </a:rPr>
              <a:t>论文消融：Tool-only / LLM-only / Full PASTE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925312"/>
            <a:ext cx="11292840" cy="384048"/>
          </a:xfrm>
          <a:prstGeom prst="roundRect">
            <a:avLst/>
          </a:prstGeom>
          <a:solidFill>
            <a:srgbClr val="F4F8FF"/>
          </a:solidFill>
          <a:ln w="1016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998464"/>
            <a:ext cx="108356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5EA8"/>
                </a:solidFill>
                <a:latin typeface="Microsoft YaHei"/>
              </a:rPr>
              <a:t>Tool-only 不是完整解法；Agent Serving 的目标是跨 LLM 与 Tool 两个资源域的 task E2E。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全栈协同才能把工具侧 overlap 转化为 E2E 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557326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ste-e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899010"/>
            <a:ext cx="5353812" cy="25021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496" y="4828032"/>
            <a:ext cx="53172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766"/>
                </a:solidFill>
                <a:latin typeface="Microsoft YaHei"/>
              </a:rPr>
              <a:t>E2E latency vs. serving baselines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4204" y="1325880"/>
            <a:ext cx="557326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ste-ab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932" y="1573300"/>
            <a:ext cx="5353812" cy="31536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32220" y="4828032"/>
            <a:ext cx="53172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766"/>
                </a:solidFill>
                <a:latin typeface="Microsoft YaHei"/>
              </a:rPr>
              <a:t>Tool-only / LLM-only / Full PASTE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504688"/>
            <a:ext cx="1938528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559551"/>
            <a:ext cx="1755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A60000"/>
                </a:solidFill>
                <a:latin typeface="Microsoft YaHei"/>
              </a:rPr>
              <a:t>-43.5%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5980175"/>
            <a:ext cx="1792224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平均 E2E（最多）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7208" y="5504688"/>
            <a:ext cx="1938528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5559551"/>
            <a:ext cx="1755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45EA8"/>
                </a:solidFill>
                <a:latin typeface="Microsoft YaHei"/>
              </a:rPr>
              <a:t>-55.4%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5980175"/>
            <a:ext cx="1792224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p99（最多）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6048" y="5504688"/>
            <a:ext cx="1938528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5559551"/>
            <a:ext cx="1755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807B"/>
                </a:solidFill>
                <a:latin typeface="Microsoft YaHei"/>
              </a:rPr>
              <a:t>1.8×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980175"/>
            <a:ext cx="1792224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工具延迟改善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522976"/>
            <a:ext cx="4160520" cy="6766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Tool-only：LLM queue 65s / E2E 419s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Full PASTE：45s / 270s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PASTE 把“动作投机”推进为“Agent Serving 全栈并行化”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2286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807B"/>
                </a:solidFill>
                <a:latin typeface="Microsoft YaHei"/>
              </a:rPr>
              <a:t>三句话带走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4813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127248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预测来源：重复轨迹中的控制流+数据流，不额外调用 LLM。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813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627632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5EA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011680"/>
            <a:ext cx="3127248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无损核心：观测式预测、结果隔离、权威优先、严格 name+args。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4813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3" y="1627632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2011680"/>
            <a:ext cx="3127248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系统核心：工具侧提前执行必须与 LLM 侧 pacing 一起设计。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200400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60000"/>
                </a:solidFill>
                <a:latin typeface="Microsoft YaHei"/>
              </a:rPr>
              <a:t>适用边界 / 限制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6903720" cy="22860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813048"/>
            <a:ext cx="6446520" cy="182880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• 依赖重复 Agent 轨迹和可从已知上下文提取的具体参数。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• 低频工具、开放参数和长尾 pattern 收益有限。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• 不可撤销的外部副作用工具不能直接投机执行。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200400"/>
            <a:ext cx="36576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45EA8"/>
                </a:solidFill>
                <a:latin typeface="Microsoft YaHei"/>
              </a:rPr>
              <a:t>Survey 技术链中的位置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07808" y="3566160"/>
            <a:ext cx="4096512" cy="22860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3822191"/>
            <a:ext cx="3547872" cy="1737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2230"/>
                </a:solidFill>
                <a:latin typeface="Microsoft YaHei"/>
              </a:rPr>
              <a:t>Speculative Actions</a:t>
            </a:r>
            <a:br/>
            <a:r>
              <a:rPr sz="1700" b="0" i="0">
                <a:solidFill>
                  <a:srgbClr val="1A2230"/>
                </a:solidFill>
                <a:latin typeface="Microsoft YaHei"/>
              </a:rPr>
              <a:t>通用执行语义</a:t>
            </a:r>
            <a:br/>
            <a:r>
              <a:rPr sz="1700" b="0" i="0">
                <a:solidFill>
                  <a:srgbClr val="1A2230"/>
                </a:solidFill>
                <a:latin typeface="Microsoft YaHei"/>
              </a:rPr>
              <a:t>↓</a:t>
            </a:r>
            <a:br/>
            <a:r>
              <a:rPr sz="1700" b="0" i="0">
                <a:solidFill>
                  <a:srgbClr val="1A2230"/>
                </a:solidFill>
                <a:latin typeface="Microsoft YaHei"/>
              </a:rPr>
              <a:t>PASTE</a:t>
            </a:r>
            <a:br/>
            <a:r>
              <a:rPr sz="1700" b="0" i="0">
                <a:solidFill>
                  <a:srgbClr val="1A2230"/>
                </a:solidFill>
                <a:latin typeface="Microsoft YaHei"/>
              </a:rPr>
              <a:t>预测 + 工具执行 + 全栈调度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PASTE - Agent 动作投机组会汇报</dc:title>
  <dc:subject/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