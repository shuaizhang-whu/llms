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这篇论文与 SPORK 使用同一模型的出发点相同，但路线相反。SPORK 不训练，只探测当前 Actor；这篇论文则把预测自己的下一个工具调用直接变成联合训练目标。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这页将问题分成成本、分布对齐和目标漂移三个层面。论文的解法是同一模型双模式，并且从当前 policy 的新鲜 rollout 中构造投机目标。这也意味着它不能简单归类为严格无损系统。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外部小模型任务能力强并不等于它能模仿目标 Agent 的下一调用。论文的实验表明，未训练的同模型自投机已经比外部小模型更好。因此下一步是专门训练这个部分轨迹到下一调用的映射。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数据构造的核心是 on-policy。每次 Agent 产生新 rollout 后，同一批数据一方面用最终答案奖励训 Agent，另一方面从每个工具轮截取部分轨迹，让模型直接预测它自己真正会发出的下一调用。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训练时如果只用完全匹配 0/1 奖励，信号会过于稀疏。所以论文在工具名正确后，对每个参数值给 token-F1 partial credit。但要特别说明，部署复用结果时仍要完整精确匹配，稠密奖励没有放宽验收标准。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论文把数据收集和优化策略分开。同一批 rollout 同时提供两种数据，但每个更新 block 只优化一个目标。最终采用 4 次 Agent 更新加 8 次 Speculator 更新的循环，并在模式切换时重置优化器状态。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主表要讲两个趋势：第一，SFT 已经明显提高自投机 Hit@1；第二，交替 RL 在五个 benchmark 上继续同向提高，并且匹配域任务成功率没有下降。右侧消融则支持三个稳定技巧都必要。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最后一定要把无损边界说清。训练后的 Agent 已不是原始串行 Agent，所以无法声称轨迹完全一致。它能声称的是匹配域实验上任务成功率保持。因此这篇论文在 Survey 中应放在“训练式自投机”而不是“严格无损执行”。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206240" cy="8669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646920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1261872"/>
            <a:ext cx="1965960" cy="109728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56132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A60000"/>
                </a:solidFill>
                <a:latin typeface="Microsoft YaHei"/>
              </a:rPr>
              <a:t>Speculate While You Reason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978408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2230"/>
                </a:solidFill>
                <a:latin typeface="Microsoft YaHei"/>
              </a:rPr>
              <a:t>Teaching Agents to Predict Their Next Tool Call via Joint Agent–Speculator RL</a:t>
            </a:r>
          </a:p>
        </p:txBody>
      </p:sp>
      <p:pic>
        <p:nvPicPr>
          <p:cNvPr id="7" name="Picture 6" descr="intro_self_specu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946" y="3547872"/>
            <a:ext cx="2477346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5766"/>
                </a:solidFill>
                <a:latin typeface="Microsoft YaHei"/>
              </a:rPr>
              <a:t>arXiv:2607.25816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15584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汇报人：张帅    ｜    Agent 动作投机 Survey    ｜    2026.08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小外部 Speculator 不一定既准又便宜，关键是与 Agent 对齐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3977639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60000"/>
                </a:solidFill>
                <a:latin typeface="Microsoft YaHei"/>
              </a:rPr>
              <a:t>背景 / 核心问题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444752"/>
            <a:ext cx="4069080" cy="431596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00784"/>
            <a:ext cx="3639312" cy="379476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外部小模型带来第二份权重/KV，但仍常与 4B Agent 真实调用分布不一致。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通用 Agent 未被教过“从部分轨迹猜自己的下一调用”。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Agent policy 会持续更新，预测目标也会漂移，离线旧轨迹很快过时。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078992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807B"/>
                </a:solidFill>
                <a:latin typeface="Microsoft YaHei"/>
              </a:rPr>
              <a:t>主要贡献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444752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73752" y="1627632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1636776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1591056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Self-speculating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1975104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同一 πθ 以固定后缀切换 Agent / Speculator 模式，共享权重与 Prefix KV。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752344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73752" y="2935224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2944368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898648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On-policy targets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282696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从当前 Agent rollout 截取部分轨迹，实际下一调用作为目标。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4059935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73752" y="4242816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4251959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4206240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Joint RL recipe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4590288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双模式 SFT + 4:8 交替 DAPO + 切换模式时重置 optimizer。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5413248"/>
            <a:ext cx="2011680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5468112"/>
            <a:ext cx="1828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A60000"/>
                </a:solidFill>
                <a:latin typeface="Microsoft YaHei"/>
              </a:rPr>
              <a:t>44.1→61.2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5888736"/>
            <a:ext cx="186537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Qwen3-4B Hit@1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76872" y="5413248"/>
            <a:ext cx="2011680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68312" y="5468112"/>
            <a:ext cx="1828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807B"/>
                </a:solidFill>
                <a:latin typeface="Microsoft YaHei"/>
              </a:rPr>
              <a:t>48.9→66.3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0024" y="5888736"/>
            <a:ext cx="186537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Qwen3.5-4B Hit@1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5961888"/>
            <a:ext cx="11320272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1095451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0000"/>
                </a:solidFill>
                <a:latin typeface="Microsoft YaHei"/>
              </a:rPr>
              <a:t>匹配训练域的 task success 保持；但训练修改了 Agent policy，不是严格轨迹无损。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“更小”的外部模型并不自然意味“更好”的 Speculator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61288"/>
            <a:ext cx="7543800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tro_self_specu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9" y="1307592"/>
            <a:ext cx="7276321" cy="4700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66160" y="6025896"/>
            <a:ext cx="4023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4E5766"/>
                </a:solidFill>
                <a:latin typeface="Microsoft YaHei"/>
              </a:rPr>
              <a:t>论文原图：external draft vs. self-speculation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261872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08175"/>
            <a:ext cx="323697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External small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92224"/>
            <a:ext cx="3236976" cy="1280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额外权重 + 独立 Prefix KV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预测分布与 Target 不一致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Qwen3 最强外部小模型平均 Hit@1 约 18.6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3456432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602736"/>
            <a:ext cx="323697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Same-model self-speculation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986783"/>
            <a:ext cx="3236976" cy="1280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共享权重 + Prefix KV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与自身动作分布更接近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Qwen3-4B 未训练自投机平均 Hit@1 约 29.1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5623560"/>
            <a:ext cx="3566160" cy="512064"/>
          </a:xfrm>
          <a:prstGeom prst="roundRect">
            <a:avLst/>
          </a:prstGeom>
          <a:solidFill>
            <a:srgbClr val="F4F8FF"/>
          </a:solidFill>
          <a:ln w="1016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5779008"/>
            <a:ext cx="323697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5EA8"/>
                </a:solidFill>
                <a:latin typeface="Microsoft YaHei"/>
              </a:rPr>
              <a:t>需学习：h_t → 下一结构调用 a_t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同一条 Agent rollout 同时提供任务学习和投机目标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143000"/>
            <a:ext cx="6675120" cy="5138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xample-specu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468271"/>
            <a:ext cx="6419088" cy="4378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26080" y="6035040"/>
            <a:ext cx="3840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4E5766"/>
                </a:solidFill>
                <a:latin typeface="Microsoft YaHei"/>
              </a:rPr>
              <a:t>论文原图：partial trajectory 与 predicted 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42631" y="1170432"/>
            <a:ext cx="43708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07223" y="1316736"/>
            <a:ext cx="40416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7223" y="1700784"/>
            <a:ext cx="4041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用当前 πθ 生成完整 Agent rollout 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631" y="2377440"/>
            <a:ext cx="43708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223" y="2523744"/>
            <a:ext cx="40416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3" y="2907792"/>
            <a:ext cx="4041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对每个工具轮 t 截取调用前缀 h_t。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2631" y="3584448"/>
            <a:ext cx="43708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3" y="3730752"/>
            <a:ext cx="40416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7223" y="4114800"/>
            <a:ext cx="4041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追加固定投机后缀 s_sp，触发 Speculator mode。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42631" y="4791456"/>
            <a:ext cx="43708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7223" y="4937760"/>
            <a:ext cx="40416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3" y="5321808"/>
            <a:ext cx="4041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目标就是同一 rollout 中 policy 实际产生的 a_t。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42631" y="6035040"/>
            <a:ext cx="4370832" cy="347472"/>
          </a:xfrm>
          <a:prstGeom prst="roundRect">
            <a:avLst/>
          </a:prstGeom>
          <a:solidFill>
            <a:srgbClr val="F4F8FF"/>
          </a:solidFill>
          <a:ln w="1016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6108192"/>
            <a:ext cx="405993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5EA8"/>
                </a:solidFill>
                <a:latin typeface="Microsoft YaHei"/>
              </a:rPr>
              <a:t>Agent：长 reasoning trajectory｜Speculator：单个 structured call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部署需要完全匹配，训练则需要可学的稠密信号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80160"/>
            <a:ext cx="342900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3"/>
            <a:ext cx="309981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Tool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3099816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10" name="Picture 9" descr="formula-joint-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177" y="1755648"/>
            <a:ext cx="2360765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" y="2240280"/>
            <a:ext cx="30358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Microsoft YaHei"/>
              </a:rPr>
              <a:t>工具名错误立即得 0，与“结果无法复用”一致。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1280160"/>
            <a:ext cx="39319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426463"/>
            <a:ext cx="36027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Arguments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810512"/>
            <a:ext cx="3602736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15" name="Picture 14" descr="formula-joint-ar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779867"/>
            <a:ext cx="3566160" cy="372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52544" y="2240280"/>
            <a:ext cx="34930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Microsoft YaHei"/>
              </a:rPr>
              <a:t>名字命中后按 key 做 macro token-F1，近似值获得局部信号。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280160"/>
            <a:ext cx="342900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426463"/>
            <a:ext cx="309981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5EA8"/>
                </a:solidFill>
                <a:latin typeface="Microsoft YaHei"/>
              </a:rPr>
              <a:t>Final reward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1810512"/>
            <a:ext cx="3099816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20" name="Picture 19" descr="formula-joint-rew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4865" y="1755648"/>
            <a:ext cx="2360765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85632" y="2240280"/>
            <a:ext cx="299923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Microsoft YaHei"/>
              </a:rPr>
              <a:t>只有工具名正确，参数稠密奖励才生效。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2944368"/>
            <a:ext cx="354787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090672"/>
            <a:ext cx="321868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工具名错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474720"/>
            <a:ext cx="3218688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search → visit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R_sp =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2944368"/>
            <a:ext cx="354787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3090672"/>
            <a:ext cx="321868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工具名对，参数近似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3474720"/>
            <a:ext cx="3218688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query 字符串部分重叠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0 &lt; R_sp &lt;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6448" y="2944368"/>
            <a:ext cx="354787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090672"/>
            <a:ext cx="321868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完全命中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474720"/>
            <a:ext cx="3218688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name + argument dictionary exact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Hit@1 =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4809744"/>
            <a:ext cx="11064240" cy="107899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029200"/>
            <a:ext cx="14173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60000"/>
                </a:solidFill>
                <a:latin typeface="Microsoft YaHei"/>
              </a:rPr>
              <a:t>训练标准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020056"/>
            <a:ext cx="4023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2230"/>
                </a:solidFill>
                <a:latin typeface="Microsoft YaHei"/>
              </a:rPr>
              <a:t>参数 token-F1 提供 partial credit，让 RL 有足够稠密的信号。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029200"/>
            <a:ext cx="1737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5EA8"/>
                </a:solidFill>
                <a:latin typeface="Microsoft YaHei"/>
              </a:rPr>
              <a:t>部署复用标准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5020056"/>
            <a:ext cx="31546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2230"/>
                </a:solidFill>
                <a:latin typeface="Microsoft YaHei"/>
              </a:rPr>
              <a:t>解析后 tool name + 完整 argument dictionary 精确一致。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数据收集耦合，优化步骤分离：一个 policy 交替学两个目标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6720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6080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2230"/>
                </a:solidFill>
                <a:latin typeface="Microsoft YaHei"/>
              </a:rPr>
              <a:t>Joint Agent–Speculator 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2029968"/>
            <a:ext cx="3337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9152" y="2176272"/>
            <a:ext cx="300837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SFT warmup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9152" y="2560320"/>
            <a:ext cx="300837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成功 Agent 轨迹 + 部分轨迹投机样本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429000"/>
            <a:ext cx="24231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575304"/>
            <a:ext cx="209397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4 × Agent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959352"/>
            <a:ext cx="2093976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R_ag：最终任务奖励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DAPO grouped advantages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429000"/>
            <a:ext cx="24231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1" y="3575304"/>
            <a:ext cx="209397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8 × Spec.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3959352"/>
            <a:ext cx="2093976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R_sp：下一工具奖励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DAPO grouped advantages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91840" y="4078224"/>
            <a:ext cx="1143000" cy="0"/>
          </a:xfrm>
          <a:prstGeom prst="line">
            <a:avLst/>
          </a:prstGeom>
          <a:ln w="25400">
            <a:solidFill>
              <a:srgbClr val="245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650992" y="2999232"/>
            <a:ext cx="0" cy="429768"/>
          </a:xfrm>
          <a:prstGeom prst="line">
            <a:avLst/>
          </a:prstGeom>
          <a:ln w="1905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084831" y="2999232"/>
            <a:ext cx="0" cy="429768"/>
          </a:xfrm>
          <a:prstGeom prst="line">
            <a:avLst/>
          </a:prstGeom>
          <a:ln w="19050">
            <a:solidFill>
              <a:srgbClr val="A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304288" y="5010912"/>
            <a:ext cx="3337560" cy="694944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7168" y="5212080"/>
            <a:ext cx="2971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5EA8"/>
                </a:solidFill>
                <a:latin typeface="Microsoft YaHei"/>
              </a:rPr>
              <a:t>每次模式切换重置 optimizer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1298448"/>
            <a:ext cx="41605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08392" y="1481328"/>
            <a:ext cx="384048" cy="384048"/>
          </a:xfrm>
          <a:prstGeom prst="ellipse">
            <a:avLst/>
          </a:prstGeom>
          <a:solidFill>
            <a:srgbClr val="24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149047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1444751"/>
            <a:ext cx="3337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5EA8"/>
                </a:solidFill>
                <a:latin typeface="Microsoft YaHei"/>
              </a:rPr>
              <a:t>稳定技巧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1828800"/>
            <a:ext cx="3831335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先 SFT 建立两种正确输出格式。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2724912"/>
            <a:ext cx="41605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08392" y="2907792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08392" y="2916936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8" y="2871216"/>
            <a:ext cx="3337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稳定技巧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08392" y="3255264"/>
            <a:ext cx="3831335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切换时清除 momentum / adaptive statistics 干扰。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4151376"/>
            <a:ext cx="41605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08392" y="4334256"/>
            <a:ext cx="384048" cy="38404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08392" y="4343400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8" y="4297680"/>
            <a:ext cx="3337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稳定技巧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08392" y="4681728"/>
            <a:ext cx="3831335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Agent reward 惩罚无意义重复工具调用。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43800" y="5577840"/>
            <a:ext cx="4160520" cy="530352"/>
          </a:xfrm>
          <a:prstGeom prst="roundRect">
            <a:avLst/>
          </a:prstGeom>
          <a:solidFill>
            <a:srgbClr val="FFF5F5"/>
          </a:solidFill>
          <a:ln w="1016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44968" y="5715000"/>
            <a:ext cx="375818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不将 R_ag 和 R_sp 粗暴线性相加后同步更新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联合 RL 把自投机从“可用起点”提高到“更高严格命中率”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07008"/>
            <a:ext cx="5596128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504748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2230"/>
                </a:solidFill>
                <a:latin typeface="Microsoft YaHei"/>
              </a:rPr>
              <a:t>Base → SFT → Joint 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67712"/>
            <a:ext cx="12344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Qwen3-4B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2084831"/>
            <a:ext cx="960120" cy="749808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79" y="2176272"/>
            <a:ext cx="868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60000"/>
                </a:solidFill>
                <a:latin typeface="Microsoft YaHei"/>
              </a:rPr>
              <a:t>29.1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79" y="2560320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2459736"/>
            <a:ext cx="192024" cy="0"/>
          </a:xfrm>
          <a:prstGeom prst="line">
            <a:avLst/>
          </a:prstGeom>
          <a:ln w="17780">
            <a:solidFill>
              <a:srgbClr val="A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36391" y="2084831"/>
            <a:ext cx="960120" cy="749808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1" y="2176272"/>
            <a:ext cx="868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60000"/>
                </a:solidFill>
                <a:latin typeface="Microsoft YaHei"/>
              </a:rPr>
              <a:t>44.1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1" y="2560320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SFT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96511" y="2459736"/>
            <a:ext cx="192025" cy="0"/>
          </a:xfrm>
          <a:prstGeom prst="line">
            <a:avLst/>
          </a:prstGeom>
          <a:ln w="17780">
            <a:solidFill>
              <a:srgbClr val="A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06824" y="2084831"/>
            <a:ext cx="960120" cy="749808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2176272"/>
            <a:ext cx="868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60000"/>
                </a:solidFill>
                <a:latin typeface="Microsoft YaHei"/>
              </a:rPr>
              <a:t>61.2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544" y="2560320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47672" y="2953511"/>
            <a:ext cx="33375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5766"/>
                </a:solidFill>
                <a:latin typeface="Microsoft YaHei"/>
              </a:rPr>
              <a:t>Task success: 26.4 → 26.6 → 27.7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730752"/>
            <a:ext cx="12344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Qwen3.5-4B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65960" y="3547872"/>
            <a:ext cx="960120" cy="749808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79" y="3639312"/>
            <a:ext cx="868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807B"/>
                </a:solidFill>
                <a:latin typeface="Microsoft YaHei"/>
              </a:rPr>
              <a:t>33.2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79" y="4023360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Base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26080" y="3922776"/>
            <a:ext cx="192024" cy="0"/>
          </a:xfrm>
          <a:prstGeom prst="line">
            <a:avLst/>
          </a:prstGeom>
          <a:ln w="1778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136391" y="3547872"/>
            <a:ext cx="960120" cy="749808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82111" y="3639312"/>
            <a:ext cx="868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807B"/>
                </a:solidFill>
                <a:latin typeface="Microsoft YaHei"/>
              </a:rPr>
              <a:t>48.9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82111" y="4023360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SFT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96511" y="3922776"/>
            <a:ext cx="192025" cy="0"/>
          </a:xfrm>
          <a:prstGeom prst="line">
            <a:avLst/>
          </a:prstGeom>
          <a:ln w="1778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306824" y="3547872"/>
            <a:ext cx="960120" cy="749808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52544" y="3639312"/>
            <a:ext cx="868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807B"/>
                </a:solidFill>
                <a:latin typeface="Microsoft YaHei"/>
              </a:rPr>
              <a:t>66.3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2544" y="4023360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RL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4416552"/>
            <a:ext cx="33375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5766"/>
                </a:solidFill>
                <a:latin typeface="Microsoft YaHei"/>
              </a:rPr>
              <a:t>Task success: 49.0 → 49.2 → 50.6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1207008"/>
            <a:ext cx="546811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joint-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292497"/>
            <a:ext cx="5157216" cy="191638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955279" y="5138928"/>
            <a:ext cx="3291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4E5766"/>
                </a:solidFill>
                <a:latin typeface="Microsoft YaHei"/>
              </a:rPr>
              <a:t>论文原图：reward ablation trends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5715000"/>
            <a:ext cx="11320272" cy="530352"/>
          </a:xfrm>
          <a:prstGeom prst="roundRect">
            <a:avLst/>
          </a:prstGeom>
          <a:solidFill>
            <a:srgbClr val="F4F8FF"/>
          </a:solidFill>
          <a:ln w="1016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861304"/>
            <a:ext cx="1077163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5EA8"/>
                </a:solidFill>
                <a:latin typeface="Microsoft YaHei"/>
              </a:rPr>
              <a:t>移除 SFT warmup、optimizer reset 或 alternating schedule，都会使 Agent / Speculator reward 更弱或更不稳定。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该方法优化 Speculator–Agent 对齐，代价是改变 Agent 本身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2286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807B"/>
                </a:solidFill>
                <a:latin typeface="Microsoft YaHei"/>
              </a:rPr>
              <a:t>三句话带走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4813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127248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架构：同一模型双模式，消除额外权重并共享 Prefix KV。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813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627632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5EA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011680"/>
            <a:ext cx="3127248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学习：下一工具目标来自当前 Agent 新鲜 rollout，交替 RL 维持两种行为。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4813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3" y="1627632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2011680"/>
            <a:ext cx="3127248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结果：严格 Hit@1 大幅上升，匹配训练域的 task success 保持。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200400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60000"/>
                </a:solidFill>
                <a:latin typeface="Microsoft YaHei"/>
              </a:rPr>
              <a:t>适用边界 / 限制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6903720" cy="22860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813048"/>
            <a:ext cx="6446520" cy="182880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不是 Speculative Actions 意义下的严格轨迹无损：RL 直接改了 Agent policy。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跨域 Hit@1 可能上升，但任务成功率不总是稳定，仍敏感于训练分布。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主要证据是 Hit@1 与 Agent 质量；全栈 E2E 延迟/资源证据不如 PASTE、SPORK 完整。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200400"/>
            <a:ext cx="36576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45EA8"/>
                </a:solidFill>
                <a:latin typeface="Microsoft YaHei"/>
              </a:rPr>
              <a:t>Survey 技术链中的位置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7808" y="3566160"/>
            <a:ext cx="4096512" cy="22860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3822191"/>
            <a:ext cx="3547872" cy="1737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2230"/>
                </a:solidFill>
                <a:latin typeface="Microsoft YaHei"/>
              </a:rPr>
              <a:t>SPORK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训练免费的同模型 probe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↓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Joint RL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主动训练 Agent 学会预测自己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Joint-RL - Agent 动作投机组会汇报</dc:title>
  <dc:subject/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