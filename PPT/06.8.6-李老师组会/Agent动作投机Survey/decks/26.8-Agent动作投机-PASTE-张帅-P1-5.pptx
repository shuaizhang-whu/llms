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PASTE 是一篇非常适合从算法过渡到系统的论文。它不只讨论怎么猜下一工具，还讨论提前执行后如何隔离、调度，以及工具变快后怎么避免 GPU 突然拥塞。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这页用两个观察建立问题。第一，工具在关键路径上占比很高；第二，现有 Agent 虽然在语义上必须等上一步，但某些工具序列和参数来源是可预测的。PASTE 的贡献是把这个机会做成一个全栈系统。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这张总图的阅读顺序是从预测、到工具侧执行、再到 LLM 侧恢复。最重要的无损约束是：Pattern Analyzer 只产生候选，预执行结果先隔离，只有权威调用完整命中后才进入 session。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 Analyzer 与用一个小模型直接猜调用不同。它的预测来源是历史轨迹的重复结构，并且一定要把参数来源解析出来，否则只知道下一个是 Visit 也无法执行。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这页要强调提前执行和提前提交是两件事。无损性依赖隔离，并且权威调用拥有资源优先级。Promote 是一个很实用的状态：真实调用到来时，同一投机 job 正在跑，不用重新发起。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206240" cy="8669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646920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1261872"/>
            <a:ext cx="1965960" cy="109728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61320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A60000"/>
                </a:solidFill>
                <a:latin typeface="Microsoft YaHei"/>
              </a:rPr>
              <a:t>PASTE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978408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A2230"/>
                </a:solidFill>
                <a:latin typeface="Microsoft YaHei"/>
              </a:rPr>
              <a:t>Parallelizing Tool Execution and LLM Generation for Low-Latency Agent Serving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041648"/>
            <a:ext cx="7863840" cy="50292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3640" y="3904487"/>
            <a:ext cx="292608" cy="29260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096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8280" y="3904487"/>
            <a:ext cx="292608" cy="29260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4535424"/>
            <a:ext cx="4800600" cy="50292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206240"/>
            <a:ext cx="1417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0000"/>
                </a:solidFill>
                <a:latin typeface="Microsoft YaHei"/>
              </a:rPr>
              <a:t>Authoritative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608576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Speculative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E5766"/>
                </a:solidFill>
                <a:latin typeface="Microsoft YaHei"/>
              </a:rPr>
              <a:t>Yifan Sui et al. · arXiv:2603.18897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汇报人：张帅    ｜    Agent 动作投机 Survey    ｜    2026.08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Agent Serving 的关键路径不只是 LLM，工具占 45%–57%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78992"/>
            <a:ext cx="3977639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60000"/>
                </a:solidFill>
                <a:latin typeface="Microsoft YaHei"/>
              </a:rPr>
              <a:t>背景 / 核心问题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44752"/>
            <a:ext cx="4069080" cy="431596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00784"/>
            <a:ext cx="3639312" cy="3794760"/>
          </a:xfrm>
          <a:prstGeom prst="rect">
            <a:avLst/>
          </a:prstGeom>
          <a:noFill/>
        </p:spPr>
        <p:txBody>
          <a:bodyPr wrap="square" lIns="54864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LLM 生成 → 工具调用 → 等待 → LLM 恢复，语义依赖被实现成物理串行。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Deep research、coding、AI4Science 中，工具执行占 E2E 延迟 45%–57%。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600" b="0">
                <a:solidFill>
                  <a:srgbClr val="1A2230"/>
                </a:solidFill>
                <a:latin typeface="Microsoft YaHei"/>
              </a:rPr>
              <a:t>• 要隐藏 exposed tool time，必须在 LLM 尚未输出时得到具体 (tool, args)。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807B"/>
                </a:solidFill>
                <a:latin typeface="Microsoft YaHei"/>
              </a:rPr>
              <a:t>主要贡献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444752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73752" y="1627632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636776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591056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Pattern 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1975104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抽取重复控制流+隐式数据流，实例化未来调用。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752344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73752" y="2935224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2944368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898648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Tool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3282696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准入、隔离、确认/提升/丢弃，权威调用优先。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059935"/>
            <a:ext cx="69951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73752" y="4242816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4251959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4206240"/>
            <a:ext cx="61722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807B"/>
                </a:solidFill>
                <a:latin typeface="Microsoft YaHei"/>
              </a:rPr>
              <a:t>LLM–Tool Co-Scheduler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4590288"/>
            <a:ext cx="6665976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节奏化 returning sessions，不让工具侧收益变成 GPU 排队。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5413248"/>
            <a:ext cx="2011680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5468112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A60000"/>
                </a:solidFill>
                <a:latin typeface="Microsoft YaHei"/>
              </a:rPr>
              <a:t>-43.5%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5888736"/>
            <a:ext cx="186537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平均任务时间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76872" y="5413248"/>
            <a:ext cx="2011680" cy="786384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5468112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807B"/>
                </a:solidFill>
                <a:latin typeface="Microsoft YaHei"/>
              </a:rPr>
              <a:t>1.8×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0024" y="5888736"/>
            <a:ext cx="186537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766"/>
                </a:solidFill>
                <a:latin typeface="Microsoft YaHei"/>
              </a:rPr>
              <a:t>更低工具延迟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5961888"/>
            <a:ext cx="11320272" cy="3840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1095451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预测命中 ≠ E2E 一定变快；必须联合考虑工具与 LLM 两个资源域。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PASTE 不是单一预测器，而是三个闭环调度组件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745236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ste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030" y="1417320"/>
            <a:ext cx="5366403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5742432"/>
            <a:ext cx="4297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论文原图：PASTE system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216152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362456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1  Mining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746504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历史 session 提取稳定工具转移和参数派生规则。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2185416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2331720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2  Instantiation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715768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用当前上下文填充 pattern，得到具体 (tool,args)。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154680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3300984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45EA8"/>
                </a:solidFill>
                <a:latin typeface="Microsoft YaHei"/>
              </a:rPr>
              <a:t>3  Speculation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685032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选择性提前执行，结果先进隔离区。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4123944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4270248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4 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4654296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权威调用到达时规范化比较 name+args。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5093208"/>
            <a:ext cx="361188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5239512"/>
            <a:ext cx="32826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807B"/>
                </a:solidFill>
                <a:latin typeface="Microsoft YaHei"/>
              </a:rPr>
              <a:t>5  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5623560"/>
            <a:ext cx="328269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使用工具侧信号控制 session 返回 LLM 的节奏。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6080760"/>
            <a:ext cx="3611880" cy="320040"/>
          </a:xfrm>
          <a:prstGeom prst="roundRect">
            <a:avLst/>
          </a:prstGeom>
          <a:solidFill>
            <a:srgbClr val="FFF5F5"/>
          </a:solidFill>
          <a:ln w="1016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6135624"/>
            <a:ext cx="3291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未确认结果对 Agent 不可见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从“经常这样做”到“现在可以提前执行”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664208"/>
            <a:ext cx="384048" cy="384048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控制流挖掘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Search → Visit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Edit → Test</a:t>
            </a:r>
            <a:br/>
            <a:r>
              <a:rPr sz="1400" b="0" i="0">
                <a:solidFill>
                  <a:srgbClr val="1A2230"/>
                </a:solidFill>
                <a:latin typeface="Microsoft YaHei"/>
              </a:rPr>
              <a:t>Grep → FileEditor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7237" y="2660904"/>
            <a:ext cx="228600" cy="0"/>
          </a:xfrm>
          <a:prstGeom prst="line">
            <a:avLst/>
          </a:prstGeom>
          <a:ln w="25400">
            <a:solidFill>
              <a:srgbClr val="A6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0327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67862" y="1664208"/>
            <a:ext cx="384048" cy="384048"/>
          </a:xfrm>
          <a:prstGeom prst="ellipse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786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1637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数据流学习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86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下一工具参数来自上一输出或当前 session 字段。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47588" y="2660904"/>
            <a:ext cx="228600" cy="0"/>
          </a:xfrm>
          <a:prstGeom prst="line">
            <a:avLst/>
          </a:prstGeom>
          <a:ln w="25400">
            <a:solidFill>
              <a:srgbClr val="00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0362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8212" y="1664208"/>
            <a:ext cx="384048" cy="384048"/>
          </a:xfrm>
          <a:prstGeom prst="ellipse">
            <a:avLst/>
          </a:prstGeom>
          <a:solidFill>
            <a:srgbClr val="245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821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198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在线实例化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821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只当所需输入已出现，才生成具体 tool+args。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47938" y="2660904"/>
            <a:ext cx="228600" cy="0"/>
          </a:xfrm>
          <a:prstGeom prst="line">
            <a:avLst/>
          </a:prstGeom>
          <a:ln w="25400">
            <a:solidFill>
              <a:srgbClr val="245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03970" y="1481328"/>
            <a:ext cx="2544318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68562" y="1664208"/>
            <a:ext cx="384048" cy="384048"/>
          </a:xfrm>
          <a:prstGeom prst="ellipse">
            <a:avLst/>
          </a:prstGeom>
          <a:solidFill>
            <a:srgbClr val="C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8562" y="1673352"/>
            <a:ext cx="38404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2338" y="1627632"/>
            <a:ext cx="172135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D2D2D"/>
                </a:solidFill>
                <a:latin typeface="Microsoft YaHei"/>
              </a:rPr>
              <a:t>调度器仲裁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8562" y="2011680"/>
            <a:ext cx="2215134" cy="1719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多个 pattern 冲突时，按收益、置信度和资源准入。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60520"/>
            <a:ext cx="11064240" cy="178308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425696"/>
            <a:ext cx="10515600" cy="11430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2230"/>
                </a:solidFill>
                <a:latin typeface="Microsoft YaHei"/>
              </a:rPr>
              <a:t>Search("DSP paper") 已返回 URL → 从当前上下文抽取 URL → LLM 还在生成时预先执行 Visit(url)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88920" y="164592"/>
            <a:ext cx="90068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2230"/>
                </a:solidFill>
                <a:latin typeface="Microsoft YaHei"/>
              </a:rPr>
              <a:t>提前运行不等于提前提交：完整的投机生命周期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937260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10928" y="832104"/>
            <a:ext cx="2240280" cy="32004"/>
          </a:xfrm>
          <a:prstGeom prst="rect">
            <a:avLst/>
          </a:prstGeom>
          <a:solidFill>
            <a:srgbClr val="00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58600" y="6510528"/>
            <a:ext cx="2286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E5766"/>
                </a:solidFill>
                <a:latin typeface="Microsoft YaHei"/>
              </a:rPr>
              <a:t>5</a:t>
            </a:r>
          </a:p>
        </p:txBody>
      </p:sp>
      <p:pic>
        <p:nvPicPr>
          <p:cNvPr id="7" name="Picture 6" descr="paste-tool-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75" y="1207008"/>
            <a:ext cx="6494568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0" y="3950208"/>
            <a:ext cx="3657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4E5766"/>
                </a:solidFill>
                <a:latin typeface="Microsoft YaHei"/>
              </a:rPr>
              <a:t>论文原图：speculative tool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Candidate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71600" y="4672584"/>
            <a:ext cx="164592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554480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912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Admitted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87168" y="4672584"/>
            <a:ext cx="164592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70048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79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5EA8"/>
                </a:solidFill>
                <a:latin typeface="Microsoft YaHei"/>
              </a:rPr>
              <a:t>Running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02736" y="4672584"/>
            <a:ext cx="164592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85616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0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807B"/>
                </a:solidFill>
                <a:latin typeface="Microsoft YaHei"/>
              </a:rPr>
              <a:t>Reuse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18304" y="4672584"/>
            <a:ext cx="164592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901183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28616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5EA8"/>
                </a:solidFill>
                <a:latin typeface="Microsoft YaHei"/>
              </a:rPr>
              <a:t>Promote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33871" y="4672584"/>
            <a:ext cx="164593" cy="0"/>
          </a:xfrm>
          <a:prstGeom prst="line">
            <a:avLst/>
          </a:prstGeom>
          <a:ln w="15240">
            <a:solidFill>
              <a:srgbClr val="4E57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16752" y="4343400"/>
            <a:ext cx="93268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44184" y="4517136"/>
            <a:ext cx="87782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60000"/>
                </a:solidFill>
                <a:latin typeface="Microsoft YaHei"/>
              </a:rPr>
              <a:t>Discard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4927" y="1298448"/>
            <a:ext cx="4297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19" y="1444751"/>
            <a:ext cx="39684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807B"/>
                </a:solidFill>
                <a:latin typeface="Microsoft YaHei"/>
              </a:rPr>
              <a:t>准入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1828800"/>
            <a:ext cx="396849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预计可隐藏工具时间 &gt; 调度与资源机会成本。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24927" y="2560320"/>
            <a:ext cx="4297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19" y="2706624"/>
            <a:ext cx="39684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45EA8"/>
                </a:solidFill>
                <a:latin typeface="Microsoft YaHei"/>
              </a:rPr>
              <a:t>隔离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3090672"/>
            <a:ext cx="396849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结果进 speculative store，不写 authoritative session state。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24927" y="3822191"/>
            <a:ext cx="4297680" cy="1069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19" y="3968496"/>
            <a:ext cx="396849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严格匹配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4352544"/>
            <a:ext cx="3968496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230"/>
                </a:solidFill>
                <a:latin typeface="Microsoft YaHei"/>
              </a:rPr>
              <a:t>工具名+规范化参数一致才能 reuse；同一运行 job 可 promote。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21808"/>
            <a:ext cx="11045952" cy="612648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5504688"/>
            <a:ext cx="10625328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60000"/>
                </a:solidFill>
                <a:latin typeface="Microsoft YaHei"/>
              </a:rPr>
              <a:t>安全：优先只读 / 幂等 / 可隔离工具；有副作用工具需显式策略、sandbox 或非变更版本。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PASTE - Agent 动作投机组会汇报</dc:title>
  <dc:subject/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