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本页目的：D．可靠性与 Agent 幻觉。讲解时先给出结论，再解释证据和方法边界。核心内容：。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研究的第一步，是避免把所有 Agent failure 都叫 hallucination。讲解时先给出结论，再解释证据和方法边界。核心内容：Wrong action：不利于任务，但可能是合理探索或策略低效。；Hallucinated action：不被 task instruction、interaction history 或 environment observation 支持。；System failure：工具异常、超时、环境崩溃、格式错误，不一定源于模型幻觉。。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可靠性至少有四个观察粒度。讲解时先给出结论，再解释证据和方法边界。核心内容：Response-level：最终答案是否正确/有事实依据。；Action-level：当前动作是否忠实于任务、历史和环境。；Step-level attribution：哪一步首次偏离、为什么。。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本页目的：本章不按 benchmark 堆叠，而按可靠性问题链组织。讲解时先给出结论，再解释证据和方法边界。核心内容：定义/诱发：MIRAGE-Bench。；定位/调试：AgentHallu、AgentDebug。；机理：Reasoning Trap、Tool-Induced Myopia。。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本页目的：动作不忠实于任务、历史或观察，才属于 Agent hallucination。讲解时先给出结论，再解释证据和方法边界。核心内容：Task-unfaithful：忽略约束、越出请求范围、宣称不要求的目标。；History-unfaithful：引用不存在结果、重复已失败动作、假设用户已回复。；Observation-unfaithful：编造按钮/文件/页面状态、假设环境已转移或任务已完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本页目的：冻结高风险决策点，避免完整 rollout 的不可复现性。讲解时先给出结论，再解释证据和方法边界。核心内容：风险场景：out-of-scope query、unexpected transition、unachievable goal、ill-specified instruction、flawed history、popup distraction。；方法：从 WebArena、OSWorld、WorkArena、SWE-Bench、τ-bench 等环境审计风险点；冻结 context snapshot；让模型预测下一动作。；评测：risk-aware LLM judge 给 Utility 0/1/2，并统计 hallucination rate。。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本页目的：知道“有幻觉”远远不够，还要找到最早 responsible step。讲解时先给出结论，再解释证据和方法边界。核心内容：任务 1 Where：定位轨迹中首次导致后续错误的 hallucination-responsible step。；任务 2 Why：解释该步为什么不被证据支持，并归入 taxonomy。；五大类：Planning、Retrieval、Reasoning、Human-Interaction、Tool-Use；共 14 子类。。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本页目的：检测相对容易，精准定位仍很难。讲解时先给出结论，再解释证据和方法边界。核心内容：数据：693 高质量 trajectories；443 hallucinated、250 clean；7 种 agent framework、5 个 domain；平均约 7.6 steps。；评测：13 个闭源/开源模型；多层标注覆盖 binary、step、causal explanation。；结果：最佳 step localization accuracy 仅 41.1%；tool-use attribution 仅 11.6%。。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本页目的：Where LLM Agents Fail：模块化诊断，而不是只改最后一个 action。讲解时先给出结论，再解释证据和方法边界。核心内容：Agent Error Taxonomy：Memory、Reflection、Planning、Action、System。；Stage 1：逐模块分析当前轨迹。；Stage 2：定位 critical/root-cause error。。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本页目的：正确的重启位置比“从头再来”或“只改最后一步”更有效。讲解时先给出结论，再解释证据和方法边界。核心内容：数据：200 条专家标注失败轨迹，覆盖 ALFWorld、WebShop、GAIA。；检测：AgentDebug 的 all-correct 与 step accuracy 优于 direct prompting/self-refine 等 baseline。；修复：论文报告下游 task success 相对最多提升 26%；多个模型/环境均受益。。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本页目的：工具把“语言错误”转化为可执行副作用。讲解时先给出结论，再解释证据和方法边界。核心内容：类型 1 Tool selection：调用不存在/不相关工具，或调用时机错误。；类型 2 Tool usage：JSON/schema 错、参数名/类型错、参数内容编造。；传播链：fabricated parameter → tool output → reasoning accepts output → wrong final action/answer。。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本页目的：控制实验给出反直觉答案：think harder 可能更敢于调用错误工具。讲解时先给出结论，再解释证据和方法边界。核心内容：Benchmark：SimpleToolHalluBench。；NTA：任务需要工具，但当前没有任何工具；正确行为是说明无法完成/询问用户。；DT：只提供 distractor tool；正确行为仍是不误用。。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本页目的：RL、蒸馏和推理模式均出现“性能越高，工具幻觉越多”。讲解时先给出结论，再解释证据和方法边界。核心内容：发现 1：tool-specific RL 提高任务 reward，同时提高 hallucination。；发现 2：即使只做 math GRPO，也会提高后续 tool hallucination，说明不只是工具数据过拟合。；发现 3：R1 distillation 与 thinking mode 同样放大问题。。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本页目的：最终答案更准，不代表工具增强过程更可信。讲解时先给出结论，再解释证据和方法边界。核心内容：现象：模型把 Code Interpreter 输出当作证明的替代，跳过必要逻辑、假设与创造性推理。；PyMath：1,679 道 Python 有帮助但不充分的竞赛数学题。；结果：tool-augmented model 最终准确率最高可提升 19.3pp；但过程 pairwise win、miss rate、PRM 等变差；高风险案例约 55% 出现 TIM。。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本页目的：四类错误 + 三类结果，构成可训练的可靠工具调用目标。讲解时先给出结论，再解释证据和方法边界。核心内容：四类：tool type、tool timing、tool format、tool content hallucination。；RelyToolBench：在 StableToolBench 基础上加入 Missing Parameter 与 Unmatched Tools。；指标：Tool Hallucination Rate、Reliable Pass Rate、Benefit–Cost Utility。。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本页目的：条件不足时，ChangeTools / TalkToUser 比编造参数更可靠。讲解时先给出结论，再解释证据和方法边界。核心内容：Reliable SFT：构造工具替换与参数缺失样本，教会模型输出 indecisive actions。；Reliable DPO：从多个轨迹构造偏好对：correct &gt; indecisive &gt; hallucinated。；意义：将“拒绝、澄清、换工具”视为有效 Agent action，而非任务失败。。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本页目的：可靠性对齐同时降低工具幻觉和无效调用。讲解时先给出结论，再解释证据和方法边界。核心内容：ToolLLaMA：overall THR 约 56.5 → 18.3。；Llama-3.1-8B：约 50.8 → 14.6，RePR 提升到约 77.2。；Qwen2.5-7B：约 49.2 → 17.6。。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本页目的：如果自动 judge 与人类接近随机，所有缓解结论都会失真。讲解时先给出结论，再解释证据和方法边界。核心内容：数据：约 2,000 tasks、2,300 traces，Calendar/Weather/Medical/Knowledge；Retail held-out。；干预：把首次关键参数替换为 schema 合法但语义错误的值。；三个阶段：S1 注入发生；S2 工具执行受影响；S3 最终答案错误。。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本页目的：错误参数传播到最终错误的概率约 0.62。讲解时先给出结论，再解释证据和方法边界。核心内容：发现：不同模型传播概率约 0.46–0.73。；能力分解：rejection 与 recovery Spearman ρ=0.126，近似独立。；Runtime interceptor：L1 schema/tool error；L2 thought keyword monitor；L3 unsupported output consistency。。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本页目的：只审最终 response，会漏掉 procedural 与 scope hallucination。讲解时先给出结论，再解释证据和方法边界。核心内容：数据：225 条专家标注 AssetOps multi-agent trajectories，来自 42 个工业问题与 6 个模型配置。；五类：Factual、Referential、Logical、Procedural、Scope。；检测：subtask-level BERT/NLI、trajectory-level Longformer、LLM-as-a-Judge。。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D ·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D．可靠性与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从动作不忠实、根因归因到工具缓解与轨迹审计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证据是否支持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根因与传播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拦截 · 重试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研究的第一步，是避免把所有 Agent failure 都叫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Wrong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不利于任务，但可能是合理探索或策略低效。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Hallucinated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不被 task instruction、interaction history 或 environment observation 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System failure：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工具异常、超时、环境崩溃、格式错误，不一定源于模型幻觉。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Security compromise：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injection/越权导致错误动作，诱因来自对抗输入。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可靠性是总集合；幻觉是其中“缺乏证据支撑”的子类。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可靠性至少有四个观察粒度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Response-level：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最终答案是否正确/有事实依据。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Action-level：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当前动作是否忠实于任务、历史和环境。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Step-level attribution：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哪一步首次偏离、为什么。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Trajectory/system-level：错误如何传播，是否跨 Agent/工具/角色边界。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最终任务成功也可能掩盖不可靠过程；最终失败也不一定来自最末一步。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本章不按 benchmark 堆叠，而按可靠性问题链组织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定义/诱发：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MIRAGE-Bench。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定位/调试：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AgentHallu、AgentDebug。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机理：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Reasoning Trap、Tool-Induced Myopia。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训练缓解：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Relign。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运行时缓解：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AgentProp-Bench interceptor、GUI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轨迹审计：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跨方向安全：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Cognitive Firewall。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动作不忠实于任务、历史或观察，才属于 Agent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5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Task-unfaithful：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忽略约束、越出请求范围、宣称不要求的目标。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History-unfaithful：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引用不存在结果、重复已失败动作、假设用户已回复。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Observation-unfaithful：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编造按钮/文件/页面状态、假设环境已转移或任务已完成。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关键区分：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utility=0 的错误动作可能是 hallucination；但合理探索失败不必算 hallucination。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冻结高风险决策点，避免完整 rollout 的不可复现性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6-mirag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531789"/>
            <a:ext cx="5047488" cy="19498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风险场景：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out-of-scope query、unexpected transition、unachievable goal、ill-specified instruction、flawed history、popup distraction。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WebArena、OSWorld、WorkArena、SWE-Bench、τ-bench 等环境审计风险点；冻结 context snapshot；让模型预测下一动作。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risk-aware LLM judge 给 Utility 0/1/2，并统计 hallucination rate。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闭源模型只略优于开源；编造 UI/完成状态与忽略环境变化普遍存在。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snapshot 提高可复现性，但弱化真实长期传播。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知道“有幻觉”远远不够，还要找到最早 responsible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7-agenthallu-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81436"/>
            <a:ext cx="5047488" cy="26505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teaser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1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定位轨迹中首次导致后续错误的 hallucination-responsible 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2 Why：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解释该步为什么不被证据支持，并归入 taxonomy。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五大类：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Planning、Retrieval、Reasoning、Human-Interaction、Tool-Use；共 14 子类。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轨迹表示：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Thought–Action–Observation 多步序列。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检测相对容易，精准定位仍很难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8-agenthallu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7305"/>
            <a:ext cx="5047488" cy="24307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693 高质量 trajectories；443 hallucinated、250 clean；7 种 agent framework、5 个 domain；平均约 7.6 steps。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 个闭源/开源模型；多层标注覆盖 binary、step、causal explanation。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最佳 step localization accuracy 仅 41.1%；tool-use attribution 仅 11.6%。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趋势：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轨迹越长越难；step-by-step prompting 有帮助，但 token 成本增加。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需要低成本、可在线触发的 attribution，而不是每次交给最大 judge 全轨迹复盘。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trajectories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41.1%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best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tool-use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Where LLM Agents Fail：模块化诊断，而不是只改最后一个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9-agentdebug-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6941"/>
            <a:ext cx="5404104" cy="2212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逐模块分析当前轨迹。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578608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24912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27248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定位 critical/root-cause error。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986784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133088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535424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生成针对性 feedback，从 critical step 重新 rollout。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关键点：失败可能由早期 memory/planning 产生，末尾动作只是症状。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正确的重启位置比“从头再来”或“只改最后一步”更有效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0-agentdebug-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9" y="1335024"/>
            <a:ext cx="5007273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200 条专家标注失败轨迹，覆盖 ALFWorld、WebShop、GAIA。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AgentDebug 的 all-correct 与 step accuracy 优于 direct prompting/self-refine 等 baseline。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修复：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论文报告下游 task success 相对最多提升 26%；多个模型/环境均受益。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强 judge + 部分 trajectory replay；general failure taxonomy 不完全等同于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 的最终目标应是 attribution-guided intervention，而非只做审计报告。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+26%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relative task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工具把“语言错误”转化为可执行副作用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1 Tool selection：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调用不存在/不相关工具，或调用时机错误。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2 Tool usage：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JSON/schema 错、参数名/类型错、参数内容编造。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传播链：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fabricated parameter → tool output → reasoning accepts output → wrong final action/answer。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特殊能力：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rejection（执行前拒绝坏参数）与 recovery（接受后能纠错）并非同一种能力。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控制实验给出反直觉答案：think harder 可能更敢于调用错误工具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soning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24959"/>
            <a:ext cx="5047488" cy="2763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SimpleToolHalluBench。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NTA：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任务需要工具，但当前没有任何工具；正确行为是说明无法完成/询问用户。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DT：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只提供 distractor tool；正确行为仍是不误用。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对照：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RL、math GRPO、R1 distillation、thinking on/off、prompt、DPO。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是工具训练过拟合，还是 reasoning enhancement 本身改变了行动倾向？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RL、蒸馏和推理模式均出现“性能越高，工具幻觉越多”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3-reasoning-trap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78508"/>
            <a:ext cx="5047488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tool-specific RL 提高任务 reward，同时提高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即使只做 math GRPO，也会提高后续 tool hallucination，说明不只是工具数据过拟合。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R1 distillation 与 thinking mode 同样放大问题。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engineering 很弱；DPO 可降低 hallucination，但牺牲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训练目标必须显式优化 abstention/solvability/reliability，不能假设 reasoning 会自然带来谨慎。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最终答案更准，不代表工具增强过程更可信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4-tool-induced-myop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26444"/>
            <a:ext cx="5047488" cy="1792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论文原图：Tool-Induced Myopia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现象：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模型把 Code Interpreter 输出当作证明的替代，跳过必要逻辑、假设与创造性推理。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PyMath：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1,679 道 Python 有帮助但不充分的竞赛数学题。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tool-augmented model 最终准确率最高可提升 19.3pp；但过程 pairwise win、miss rate、PRM 等变差；高风险案例约 55% 出现 TIM。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 observation 进入最终结论前，还需要 reasoning faithfulness check。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1,679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PyMath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+19.3pp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final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≈55%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high-risk TIM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四类错误 + 三类结果，构成可训练的可靠工具调用目标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5-relign-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741" y="1335024"/>
            <a:ext cx="500888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论文原图：Relign taxonomy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四类：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type、tool timing、tool format、tool content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RelyToolBench：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 StableToolBench 基础上加入 Missing Parameter 与 Unmatched Tools。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Hallucination Rate、Reliable Pass Rate、Benefit–Cost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三类响应：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 tool action；indecisive action；hallucinated action。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条件不足时，ChangeTools / TalkToUser 比编造参数更可靠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4892040" cy="23317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Reliable SFT：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构造工具替换与参数缺失样本，教会模型输出 indecisive actions。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Reliable DPO：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从多个轨迹构造偏好对：correct &gt; indecisive &gt; hallucinated。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将“拒绝、澄清、换工具”视为有效 Agent action，而非任务失败。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25880"/>
            <a:ext cx="5989320" cy="1234440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lign-p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6449"/>
            <a:ext cx="5257800" cy="563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06440" y="2862072"/>
            <a:ext cx="5715000" cy="23317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公式化偏好：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a_correct ≻ a_indecisive ≻ a_hallucinated。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固定的两类 indecisive action 仍较粗；timing/重复调用涉及轨迹记忆。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913632"/>
            <a:ext cx="486460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59936"/>
            <a:ext cx="45171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694CA6"/>
                </a:solidFill>
                <a:latin typeface="Microsoft YaHei"/>
              </a:rPr>
              <a:t>核心变化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462272"/>
            <a:ext cx="449884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拒绝、澄清与换工具是合法 action，不再被当作消极失败。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可靠性对齐同时降低工具幻觉和无效调用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7-relign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66734"/>
            <a:ext cx="5047488" cy="11118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论文原图：Relign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ToolLLaMA：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overall THR 约 56.5 → 18.3。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Llama-3.1-8B：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50.8 → 14.6，RePR 提升到约 77.2。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Qwen2.5-7B：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49.2 → 17.6。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常规 tool-learning 可提高 pass rate，却不自动降低 hallucination/cost。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依赖 GPT-4o evaluator 训练与评测；对长轨迹 logical/referential 幻觉覆盖有限。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56.5→18.3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ToolLLaMA THR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50.8→14.6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Llama-3.1 THR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49.2→17.6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Qwen2.5 THR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如果自动 judge 与人类接近随机，所有缓解结论都会失真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judge_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63987"/>
            <a:ext cx="5047488" cy="2917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论文原图：AgentProp judge 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2,000 tasks、2,300 traces，Calendar/Weather/Medical/Knowledge；Retail held-out。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干预：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把首次关键参数替换为 schema 合法但语义错误的值。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三个阶段：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S1 注入发生；S2 工具执行受影响；S3 最终答案错误。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Judge 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substring heuristic 与人类 κ=0.049；3-LLM ensemble κ=0.432，但偏保守。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κ=.049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substring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κ=.432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3-LLM ensemble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错误参数传播到最终错误的概率约 0.62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interceptor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320" y="1335024"/>
            <a:ext cx="4973727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论文原图：AgentProp interceptor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不同模型传播概率约 0.46–0.73。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能力分解：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rejection 与 recovery Spearman ρ=0.126，近似独立。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Runtime interceptor：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L1 schema/tool error；L2 thought keyword monitor；L3 unsupported output consistency。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GPT-4o-mini hallucination 55.8%→32.8%，下降 23pp；对高拒绝率 Gemini 效果不显著。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runtime mitigation 必须针对具体 failure mode 与 model behavior 调整。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≈0.62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error 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55.8→32.8%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GPT-4o-mini hallu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只审最终 response，会漏掉 procedural 与 scope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39006"/>
            <a:ext cx="5047488" cy="2535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论文原图：Trajel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225 条专家标注 AssetOps multi-agent trajectories，来自 42 个工业问题与 6 个模型配置。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Factual、Referential、Logical、Procedural、Scope。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subtask-level BERT/NLI、trajectory-level Longformer、LLM-as-a-Judge。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特点：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角色边界与工业流程顺序也是 evidence；越权或跳步即使最终答案合理仍不可靠。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可靠性与 Agent 幻觉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