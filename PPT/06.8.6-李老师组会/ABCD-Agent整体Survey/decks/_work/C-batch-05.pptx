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本页目的：C．GUI Agent 执行。讲解时先给出结论，再解释证据和方法边界。核心内容：。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本页目的：一次错误会改变环境，并沿后续轨迹持续放大。讲解时先给出结论，再解释证据和方法边界。核心内容：离线任务：输出错误通常只影响当前答案。；GUI 任务：click/type/delete/pay 会改变真实系统状态；错误可能不可逆。；额外挑战：像素/控件 grounding、动态渲染、网络延迟、弹窗、跨应用状态、隐藏系统状态。。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本页目的：GUI Agent 是“感知—规划—动作—验证”的完整系统。讲解时先给出结论，再解释证据和方法边界。核心内容：Observation：screenshot / DOM / a11y / UIA / XML。；Grounding：element / coordinate / control / text。；Planning：task → subgoal → candidate actions。。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本页目的：本章从环境与 Actor，走向三阶段 verifier。讲解时先给出结论，再解释证据和方法边界。核心内容：环境底座：OSWorld。；执行系统：UFO²。；跨平台 Actor：Mobile-Agent-v3.5 / GUI-Owl-1.5。。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本页目的：静态截图数据无法评估替代路径、状态变化与跨应用执行。讲解时先给出结论，再解释证据和方法边界。核心内容：现有问题：离线 demonstration 只有固定答案；简化 web 环境覆盖面有限；无法进行真实 exploration 与 execution-based evaluation。；OSWorld：支持 Ubuntu、Windows、macOS；允许鼠标、键盘、GUI 与 CLI；可运行任意应用。；每个任务包含：自然语言指令、初始系统状态 setup、可复现 VM、执行脚本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本页目的：369 个开放式计算机任务，覆盖文件、应用与跨应用 workflow。讲解时先给出结论，再解释证据和方法边界。核心内容：任务范围：浏览器、办公软件、图像、邮件、代码、OS 文件 I/O、多应用协同。；评测：134 类定制 evaluator，不依赖唯一操作序列，而检查最终环境状态。；结果：人类完成率 72.36%；当时最佳模型仅 12.24%；跨应用 workflow 最佳仅 6.57%。。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本页目的：OSWorld 把 GUI Agent 从“预测动作”推进到“完成任务”。讲解时先给出结论，再解释证据和方法边界。核心内容：价值：真实可执行、初态可复现、跨 OS/跨 app、支持在线学习。；局限 1：脚本 evaluator 仍可能把替代正确路径判为 false negative。；局限 2：环境启动与大规模 rollout 成本高。。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本页目的：截图 + 模拟鼠标不足以支撑可扩展桌面自动化。讲解时先给出结论，再解释证据和方法边界。核心内容：问题：视觉输入冗余；缺少 UIA、应用 API 与 process state；自动化占用主桌面并干扰用户。；UFO² 定位：Windows multi-agent AgentOS，把 OS 能力、应用专用知识和执行控制嵌入 Agent loop。；核心思想：不是让一个通用模型直接操作所有应用，而是由中央协调器调度应用专家。。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本页目的：HostAgent 负责跨应用分解，AppAgent 负责应用内可靠执行。讲解时先给出结论，再解释证据和方法边界。核心内容：HostAgent：理解用户目标、分解跨应用 subtasks、选择/调度 AppAgent、汇总进度。；AppAgent：具备应用特定 API、domain knowledge、control detection 和 action execution。；Session：维护 task、application、window、control 与 execution history。。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本页目的：能调用 API 时不必坚持“像人一样点鼠标”。讲解时先给出结论，再解释证据和方法边界。核心内容：GUI action：适合没有稳定接口、需要视觉定位或低层交互的控件。；Native/app API：适合结构化、批量、精确且对布局变化鲁棒的操作。；UFO²：在同一 plan 中混合 GUI 与 API，并由 AppAgent 根据状态选择。。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本页目的：UIA 提供结构，视觉解析补足非标准控件。讲解时先给出结论，再解释证据和方法边界。核心内容：结构感知：Windows UI Automation/Win32/WinCOM 提供 control metadata 与状态。；视觉感知：OmniParser 等模型处理 canvas、custom widget、无 accessibility 节点的界面。；融合：先检索结构控件，再用视觉补足，形成统一 control list。。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本页目的：一次推理生成多个 GUI 动作，用轻量状态检查决定是否继续提交。讲解时先给出结论，再解释证据和方法边界。核心内容：问题：每个 GUI step 都调用 LLM，延迟随轨迹长度线性累积。；方法：模型生成 multi-action sequence；执行引擎逐个提交动作。；验证：每个动作后检查 control/application state；若与预期一致则继续，异常则停止并重新规划。。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本页目的：可靠执行还需要隔离用户桌面与高风险动作。讲解时先给出结论，再解释证据和方法边界。核心内容：PiP：基于 Windows remote desktop loopback 建立嵌套虚拟桌面；用户与 Agent 可并行工作。；Safeguard：对危险/越权操作进行检查，避免强 API 直接造成副作用。；实验：覆盖 20+ Windows apps；即使使用通用 GPT-4o，整体表现比专用 CUA 高超过 10%（论文报告）。。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本页目的：移动 GUI 还要解决“每一步页面是否都能上传”。讲解时先给出结论，再解释证据和方法边界。核心内容：观察：cloud mobile agent 通常每步上传完整 XML/screenshot；大部分 UI 与当前 action 无关。；CORE：本地 block partition/ranking + 云端 element decision + multi-round accumulation。；执行意义：将 observation 的可见范围纳入 action pipeline，兼顾成功率与隐私。。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本页目的：统一 desktop、mobile、browser、tool/MCP 的 GUI Agent 模型谱系。讲解时先给出结论，再解释证据和方法边界。核心内容：GUI-Owl-1.5：2B/4B/8B/32B/235B；instruct 与 thinking variants。；数据：模拟环境 + cloud sandbox 的 hybrid data flywheel。；能力：grounding、GUI automation、Tool/MCP、memory、多 Agent adaptation。。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本页目的：模型规模与平台统一，为端云协同提供可替换 Actor。讲解时先给出结论，再解释证据和方法边界。核心内容：GUI automation：OSWorld 56.5、AndroidWorld 71.6、WebArena 48.4。；Grounding：ScreenSpotPro 80.3。；Tool calling：OSWorld-MCP 47.6、MobileWorld 46.8。。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本页目的：同一个错误，应在三个不同时间点被发现。讲解时先给出结论，再解释证据和方法边界。核心内容：Pre-operation：动作尚未执行；判断 candidate 是否正确/危险——GUI-Critic-R1。；During/after each step：动作可能未生效；比对 observed effect 与 expected effect——VeriGUI。；Post-trajectory：界面看似完成，但文件/配置/隐藏状态可能不对——VAGEN、IRA。。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本页目的：Look Before You Leap：在 click/delete/pay 之前先问“会发生什么”。讲解时先给出结论，再解释证据和方法边界。核心内容：输入 ε：instruction + interaction history + current screenshot。；输入 a：Actor 生成的 candidate action。；输出：correctness score l∈[0,1]、critique c、corrective suggestion s。。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本页目的：reasoning bootstrapping + RFT cold start + suggestion-aware GRPO。讲解时先给出结论，再解释证据和方法边界。核心内容：数据：从 AITZ、AMEX、Odyssey、AITW 收集正动作；用模型生成近分布负动作；GPT-4o 清洗。；Progressive CoT：Observation → Possible Result → Critique → Score → Suggestion。；Bootstrapping：不直接泄漏 label/suggestion，采样多条思维，仅保留最终 score/suggestion 与标注一致者。。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本页目的：Pre-critic 将 AndroidWorld baseline success 由 22.4% 提升到 27.6%。讲解时先给出结论，再解释证据和方法边界。核心内容：静态：专用 7B critic 在 GUI-Critic-Test 上优于通用开源 MLLM。；动态：发现错误、冗余和危险动作，并提供可执行修正建议。；收益：阻止不可逆错误、缩短低效路径。。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Thinking–Verification–Action–Expectation（TVAE）把状态转移显式化。讲解时先给出结论，再解释证据和方法边界。核心内容：Thinking：基于目标和历史判断当前意图。；Verification：检查上一步是否产生预期效果；识别 unchanged screen、错误页面或干扰。；Action：若成功则推进；若失败则选择 corrective action，而不是重复点击。。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本页目的：常规 step accuracy 会掩盖“是否识别失败并恢复”。讲解时先给出结论，再解释证据和方法边界。核心内容：新指标：Loop Rate（重复失败动作比例）、Recovery Success Rate（正确恢复比例）、Sim-TSR、ASO。；结果：VeriGUI-3B/7B RSR 51.1%/52.5%，为测试开源模型最佳。；VeriGUI-7B：Sim-TSR 23.5%，ASO 1.09。。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见界面只是环境状态的一部分。讲解时先给出结论，再解释证据和方法边界。核心内容：可见状态：按钮、文本、窗口、页面。；隐藏状态：系统设置、应用配置、数据库、邮件发送状态、文件内容、生成 artifact。；被动 judge 的失败：从最后截图推断“已完成”，可能遗漏隐藏错误；Actor 的文字解释还可能反向误导 evaluator。。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本页目的：Progressive Verification：surface→latent，cheap→expensive。讲解时先给出结论，再解释证据和方法边界。核心内容：Step 1：整理 Actor trajectory，仅保留可核验的操作与视觉证据。；Step 2：优先检查已有 screenshots/observations；证据充分则 early stop。；Step 3：证据不足时调用 shell、Python 或 GUI tool probe 环境。。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本页目的：Propose-then-Verify 将“任务完成”拆成可检查证据。讲解时先给出结论，再解释证据和方法边界。核心内容：Step 1：根据 instruction 提出 completion conditions。；Step 2：为每个条件选择 system、application 或 GUI tool。；Step 3：读取配置、文件/artifact 或界面状态，形成 evidence。。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C · WHAT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C．GUI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从可执行环境、OS 级系统到执行前/中/后的验证闭环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Screen / UIA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GUI / API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225DA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225DA8"/>
                </a:solidFill>
                <a:latin typeface="Microsoft YaHei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Effect / Goal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225DA8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一次错误会改变环境，并沿后续轨迹持续放大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离线任务：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输出错误通常只影响当前答案。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任务：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click/type/delete/pay 会改变真实系统状态；错误可能不可逆。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额外挑战：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像素/控件 grounding、动态渲染、网络延迟、弹窗、跨应用状态、隐藏系统状态。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不能只看单步 action accuracy，必须看 end-to-end success、loop、recovery 和副作用。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GUI Agent 是“感知—规划—动作—验证”的完整系统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Observation：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screenshot / DOM / a11y / UIA / XML。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element / coordinate / control / text。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Planning：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task → subgoal → candidate actions。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Execution：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event / keyboard / shell / API / MCP。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action effect / hidden state / artifact / completion condition。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retry / re-ground / alternative action / rollback / ask user。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本章从环境与 Actor，走向三阶段 verifier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环境底座：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执行系统：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UFO²。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跨平台 Actor：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Mobile-Agent-v3.5 / GUI-Owl-1.5。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端云移动场景：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CORE。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执行中：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执行后：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 / IRA。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静态截图数据无法评估替代路径、状态变化与跨应用执行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5-osworld-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425899"/>
            <a:ext cx="5047487" cy="2161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现有问题：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离线 demonstration 只有固定答案；简化 web 环境覆盖面有限；无法进行真实 exploration 与 execution-based evaluation。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OSWorld：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支持 Ubuntu、Windows、macOS；允许鼠标、键盘、GUI 与 CLI；可运行任意应用。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每个任务包含：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自然语言指令、初始系统状态 setup、可复现 VM、执行脚本 evaluator。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369 个开放式计算机任务，覆盖文件、应用与跨应用 workflow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6-osworld-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565038"/>
            <a:ext cx="5047488" cy="31152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论文原图：OSWorld tasks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任务范围：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浏览器、办公软件、图像、邮件、代码、OS 文件 I/O、多应用协同。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134 类定制 evaluator，不依赖唯一操作序列，而检查最终环境状态。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人类完成率 72.36%；当时最佳模型仅 12.24%；跨应用 workflow 最佳仅 6.57%。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主要错误：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点击坐标不准、重复动作、弹窗干扰、缺乏 GUI/domain knowledge。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369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134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evaluators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72.36%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12.24%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then-best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OSWorld 把 GUI Agent 从“预测动作”推进到“完成任务”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价值：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真实可执行、初态可复现、跨 OS/跨 app、支持在线学习。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脚本 evaluator 仍可能把替代正确路径判为 false negative。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环境启动与大规模 rollout 成本高。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局限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benchmark 本身不提供更可靠的 Actor 架构。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下一步不是只训练更大的 VLM，而是把 CUA 变成深度集成 OS 的执行系统。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截图 + 模拟鼠标不足以支撑可扩展桌面自动化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8-ufo2-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855385"/>
            <a:ext cx="5047488" cy="33026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comparison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视觉输入冗余；缺少 UIA、应用 API 与 process state；自动化占用主桌面并干扰用户。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 定位：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multi-agent AgentOS，把 OS 能力、应用专用知识和执行控制嵌入 Agent loop。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核心思想：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不是让一个通用模型直接操作所有应用，而是由中央协调器调度应用专家。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HostAgent 负责跨应用分解，AppAgent 负责应用内可靠执行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09-ufo2-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694805"/>
            <a:ext cx="5047488" cy="362383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framework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HostAgent：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理解用户目标、分解跨应用 subtasks、选择/调度 AppAgent、汇总进度。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AppAgent：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具备应用特定 API、domain knowledge、control detection 和 action execution。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Session：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维护 task、application、window、control 与 execution history。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模块化扩展；不同 app 可采用不同 observation/action 接口。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能调用 API 时不必坚持“像人一样点鼠标”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0-ufo2-hostag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078189"/>
            <a:ext cx="5047488" cy="28570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HostAgent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适合没有稳定接口、需要视觉定位或低层交互的控件。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Native/app API：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适合结构化、批量、精确且对布局变化鲁棒的操作。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UFO²：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在同一 plan 中混合 GUI 与 API，并由 AppAgent 根据状态选择。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减少不必要视觉推理、操作步数和布局脆弱性。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API 权限更强，必须配套 safeguard 与 scope control。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UIA 提供结构，视觉解析补足非标准控件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1-ufo2-gui-api-hyb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94017"/>
            <a:ext cx="5047488" cy="28254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GUI/API hybrid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结构感知：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Windows UI Automation/Win32/WinCOM 提供 control metadata 与状态。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视觉感知：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OmniParser 等模型处理 canvas、custom widget、无 accessibility 节点的界面。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融合：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先检索结构控件，再用视觉补足，形成统一 control list。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持续知识：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应用文档、patch note、历史执行轨迹进入向量化 memory，无需重新训练模型。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一次推理生成多个 GUI 动作，用轻量状态检查决定是否继续提交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2-ufo2-knowledge-subst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867" y="1335024"/>
            <a:ext cx="4513896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knowledge substrate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 GUI step 都调用 LLM，延迟随轨迹长度线性累积。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模型生成 multi-action sequence；执行引擎逐个提交动作。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验证：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每个动作后检查 control/application state；若与预期一致则继续，异常则停止并重新规划。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与 Speculative Actions 的关系：都预测未来动作；UFO² 更依赖 OS control state，聚焦桌面 workflow。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风险：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多动作越长，分支/副作用越难回滚；固定 horizon 不适合所有状态。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可靠执行还需要隔离用户桌面与高风险动作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3-ufo2-speculative-multi-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628217"/>
            <a:ext cx="5047488" cy="175701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speculative multi-action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PiP：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 Windows remote desktop loopback 建立嵌套虚拟桌面；用户与 Agent 可并行工作。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Safeguard：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对危险/越权操作进行检查，避免强 API 直接造成副作用。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实验：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覆盖 20+ Windows apps；即使使用通用 GPT-4o，整体表现比专用 CUA 高超过 10%（论文报告）。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系统结论：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深度 OS integration 的收益来自更强 observation/action substrate，而不只是更强模型。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移动 GUI 还要解决“每一步页面是否都能上传”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4-ufo2-picture-in-pi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725748"/>
            <a:ext cx="5047488" cy="35619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picture-in-picture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cloud mobile agent 通常每步上传完整 XML/screenshot；大部分 UI 与当前 action 无关。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CORE：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本地 block partition/ranking + 云端 element decision + multi-round accumulation。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执行意义：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 observation 的可见范围纳入 action pipeline，兼顾成功率与隐私。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UI exposure 最多减少 55.6%，成功率接近 cloud-only。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统一 desktop、mobile、browser、tool/MCP 的 GUI Agent 模型谱系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5-ufo2-safegu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000289"/>
            <a:ext cx="5047488" cy="30128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safeguard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GUI-Owl-1.5：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2B/4B/8B/32B/235B；instruct 与 thinking variants。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模拟环境 + cloud sandbox 的 hybrid data flywheel。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grounding、GUI automation、Tool/MCP、memory、多 Agent adaptation。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多平台 environment RL；MRPO 处理任务冲突与长轨迹低效问题。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模型规模与平台统一，为端云协同提供可替换 Actor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6-ufo2-control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87109"/>
            <a:ext cx="5047488" cy="22711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论文原图：UFO2 control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 automation：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56.5、AndroidWorld 71.6、WebArena 48.4。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Grounding：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ScreenSpotPro 80.3。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Tool calling：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OSWorld-MCP 47.6、MobileWorld 46.8。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部署含义：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小尺寸模型承担低延迟常规步骤；大尺寸模型承担复杂规划与异常状态。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未解决：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榜单提升不自动带来失败检测、不可逆操作防护和完成条件证明。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&gt;10%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vs dedicated CUA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同一个错误，应在三个不同时间点被发现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-17-cor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756857"/>
            <a:ext cx="5047488" cy="14997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论文原图：CORE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Pre-operation：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动作尚未执行；判断 candidate 是否正确/危险——GUI-Critic-R1。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During/after each step：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动作可能未生效；比对 observed effect 与 expected effect——VeriGUI。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界面看似完成，但文件/配置/隐藏状态可能不对——VAGEN、IRA。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设计原则：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越早阻断副作用越小；越晚验证证据越完整但恢复成本越高。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Look Before You Leap：在 click/delete/pay 之前先问“会发生什么”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instruction + interaction history + current screenshot。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输入 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Actor 生成的 candidate action。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输出：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correctness score l∈[0,1]、critique c、corrective suggestion s。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流程：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Critic 判断潜在 outcome；正确则放行；错误则将 suggestion 返回 Actor 重规划。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优势：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避免依赖执行后 undo；适合不可逆、高副作用动作。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2B→235B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统一模型谱系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代表 benchmarks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reasoning bootstrapping + RFT cold start + suggestion-aware GRPO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AITZ、AMEX、Odyssey、AITW 收集正动作；用模型生成近分布负动作；GPT-4o 清洗。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Progressive CoT：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Observation → Possible Result → Critique → Score → Suggestion。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Bootstrapping：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不直接泄漏 label/suggestion，采样多条思维，仅保留最终 score/suggestion 与标注一致者。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RFT 冷启动；S-GRPO 奖励 format、accuracy 与 suggestion quality。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规模：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11K train，其中 6K 高质量 CoT；约 1K+ test，覆盖 mobile/web generalization。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Pre-critic 将 AndroidWorld baseline success 由 22.4% 提升到 27.6%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静态：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专用 7B critic 在 GUI-Critic-Test 上优于通用开源 MLLM。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动态：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发现错误、冗余和危险动作，并提供可执行修正建议。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收益：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阻止不可逆错误、缩短低效路径。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每一步增加 critic inference；错误拒绝会降低流畅性；训练使用 8×A100。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向下一篇过渡：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 candidate 看起来正确，真实 GUI 也可能因延迟/弹窗而未执行成功。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22.4→27.6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AndroidWorld success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Thinking–Verification–Action–Expectation（TVAE）把状态转移显式化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21/27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Thinking：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基于目标和历史判断当前意图。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Verification：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检查上一步是否产生预期效果；识别 unchanged screen、错误页面或干扰。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若成功则推进；若失败则选择 corrective action，而不是重复点击。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Expectation：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预测当前 action 应产生的下一状态，为下一步验证提供参照。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训练：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Robust SFT 注入 synthetic failure trajectories；GRPO 使用 asymmetric verification reward。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常规 step accuracy 会掩盖“是否识别失败并恢复”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22/27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新指标：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Loop Rate（重复失败动作比例）、Recovery Success Rate（正确恢复比例）、Sim-TSR、ASO。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VeriGUI-3B/7B RSR 51.1%/52.5%，为测试开源模型最佳。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VeriGUI-7B：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Sim-TSR 23.5%，ASO 1.09。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标准 SFT 可提高动作准确率，却可能让错误动作更自信；显式 failure training 才提高 recovery。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51.1/52.5%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RSR 3B/7B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23.5%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Sim-TSR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1.09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ASO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可见界面只是环境状态的一部分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23/27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可见状态：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按钮、文本、窗口、页面。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隐藏状态：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系统设置、应用配置、数据库、邮件发送状态、文件内容、生成 artifact。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被动 judge 的失败：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从最后截图推断“已完成”，可能遗漏隐藏错误；Actor 的文字解释还可能反向误导 evaluator。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新范式：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Verifier 也要像 Agent 一样主动调用工具取得证据。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Progressive Verification：surface→latent，cheap→expensive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24/27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整理 Actor trajectory，仅保留可核验的操作与视觉证据。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优先检查已有 screenshots/observations；证据充分则 early stop。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证据不足时调用 shell、Python 或 GUI tool probe 环境。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综合证据判断 task success，作为 RL reward 或 test-time selection 信号。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OSWorld 人工真值下 Acc 92.9%/93.4%；用于 GRPO 后 success 34.3%，比最强 baseline 高 3.8pp。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96515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1379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92.9/93.4%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1379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verification accuracy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34.3%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OSWorld success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2019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6883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+3.8pp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6883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vs baseline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Propose-then-Verify 将“任务完成”拆成可检查证据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225DA8"/>
                </a:solidFill>
                <a:latin typeface="Microsoft YaHei"/>
              </a:rPr>
              <a:t>GUI Agent 执行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25/27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19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根据 instruction 提出 completion conditions。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3824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46704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02152" y="155448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02152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Step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为每个条件选择 system、application 或 GUI tool。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80176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63056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18504" y="1554480"/>
            <a:ext cx="393192" cy="393192"/>
          </a:xfrm>
          <a:prstGeom prst="ellipse">
            <a:avLst/>
          </a:prstGeom>
          <a:solidFill>
            <a:srgbClr val="24A3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18504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1536192"/>
            <a:ext cx="1810512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4A39C"/>
                </a:solidFill>
                <a:latin typeface="Microsoft YaHei"/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45936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读取配置、文件/artifact 或界面状态，形成 evidence。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796528" y="2459736"/>
            <a:ext cx="164592" cy="0"/>
          </a:xfrm>
          <a:prstGeom prst="line">
            <a:avLst/>
          </a:prstGeom>
          <a:ln w="17780">
            <a:solidFill>
              <a:srgbClr val="4E58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79408" y="1389888"/>
            <a:ext cx="2633472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134856" y="1554480"/>
            <a:ext cx="393192" cy="393192"/>
          </a:xfrm>
          <a:prstGeom prst="ellipse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157276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1536192"/>
            <a:ext cx="1810511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Step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62288" y="1938528"/>
            <a:ext cx="2267712" cy="1490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聚合各条件，输出 final judgement。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3931920"/>
            <a:ext cx="11064240" cy="1874519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4187952"/>
            <a:ext cx="10607040" cy="137160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GUI-RewardBench：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321 trajectories、10 类 Ubuntu apps，覆盖 visible/hidden/artifact verification。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86.9% accuracy；作为 RL reward 得到 34.0% OSWorld success，接近 script reward 34.9%。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96515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51379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86.9%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51379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GUI-RewardBench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884267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9131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34.0%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9131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OSWorld success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72019" y="5632704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6883" y="5687568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34.9%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6883" y="6089904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script reward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 Agent 执行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