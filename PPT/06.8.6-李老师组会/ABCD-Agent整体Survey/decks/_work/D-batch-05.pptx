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本页目的：D．可靠性与 Agent 幻觉。讲解时先给出结论，再解释证据和方法边界。核心内容：。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 研究的第一步，是避免把所有 Agent failure 都叫 hallucination。讲解时先给出结论，再解释证据和方法边界。核心内容：Wrong action：不利于任务，但可能是合理探索或策略低效。；Hallucinated action：不被 task instruction、interaction history 或 environment observation 支持。；System failure：工具异常、超时、环境崩溃、格式错误，不一定源于模型幻觉。。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本页目的：Agent 可靠性至少有四个观察粒度。讲解时先给出结论，再解释证据和方法边界。核心内容：Response-level：最终答案是否正确/有事实依据。；Action-level：当前动作是否忠实于任务、历史和环境。；Step-level attribution：哪一步首次偏离、为什么。。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本页目的：本章不按 benchmark 堆叠，而按可靠性问题链组织。讲解时先给出结论，再解释证据和方法边界。核心内容：定义/诱发：MIRAGE-Bench。；定位/调试：AgentHallu、AgentDebug。；机理：Reasoning Trap、Tool-Induced Myopia。。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本页目的：动作不忠实于任务、历史或观察，才属于 Agent hallucination。讲解时先给出结论，再解释证据和方法边界。核心内容：Task-unfaithful：忽略约束、越出请求范围、宣称不要求的目标。；History-unfaithful：引用不存在结果、重复已失败动作、假设用户已回复。；Observation-unfaithful：编造按钮/文件/页面状态、假设环境已转移或任务已完成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本页目的：冻结高风险决策点，避免完整 rollout 的不可复现性。讲解时先给出结论，再解释证据和方法边界。核心内容：风险场景：out-of-scope query、unexpected transition、unachievable goal、ill-specified instruction、flawed history、popup distraction。；方法：从 WebArena、OSWorld、WorkArena、SWE-Bench、τ-bench 等环境审计风险点；冻结 context snapshot；让模型预测下一动作。；评测：risk-aware LLM judge 给 Utility 0/1/2，并统计 hallucination rate。。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本页目的：知道“有幻觉”远远不够，还要找到最早 responsible step。讲解时先给出结论，再解释证据和方法边界。核心内容：任务 1 Where：定位轨迹中首次导致后续错误的 hallucination-responsible step。；任务 2 Why：解释该步为什么不被证据支持，并归入 taxonomy。；五大类：Planning、Retrieval、Reasoning、Human-Interaction、Tool-Use；共 14 子类。。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本页目的：检测相对容易，精准定位仍很难。讲解时先给出结论，再解释证据和方法边界。核心内容：数据：693 高质量 trajectories；443 hallucinated、250 clean；7 种 agent framework、5 个 domain；平均约 7.6 steps。；评测：13 个闭源/开源模型；多层标注覆盖 binary、step、causal explanation。；结果：最佳 step localization accuracy 仅 41.1%；tool-use attribution 仅 11.6%。。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本页目的：Where LLM Agents Fail：模块化诊断，而不是只改最后一个 action。讲解时先给出结论，再解释证据和方法边界。核心内容：Agent Error Taxonomy：Memory、Reflection、Planning、Action、System。；Stage 1：逐模块分析当前轨迹。；Stage 2：定位 critical/root-cause error。。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本页目的：正确的重启位置比“从头再来”或“只改最后一步”更有效。讲解时先给出结论，再解释证据和方法边界。核心内容：数据：200 条专家标注失败轨迹，覆盖 ALFWorld、WebShop、GAIA。；检测：AgentDebug 的 all-correct 与 step accuracy 优于 direct prompting/self-refine 等 baseline。；修复：论文报告下游 task success 相对最多提升 26%；多个模型/环境均受益。。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本页目的：工具把“语言错误”转化为可执行副作用。讲解时先给出结论，再解释证据和方法边界。核心内容：类型 1 Tool selection：调用不存在/不相关工具，或调用时机错误。；类型 2 Tool usage：JSON/schema 错、参数名/类型错、参数内容编造。；传播链：fabricated parameter → tool output → reasoning accepts output → wrong final action/answer。。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本页目的：控制实验给出反直觉答案：think harder 可能更敢于调用错误工具。讲解时先给出结论，再解释证据和方法边界。核心内容：Benchmark：SimpleToolHalluBench。；NTA：任务需要工具，但当前没有任何工具；正确行为是说明无法完成/询问用户。；DT：只提供 distractor tool；正确行为仍是不误用。。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本页目的：RL、蒸馏和推理模式均出现“性能越高，工具幻觉越多”。讲解时先给出结论，再解释证据和方法边界。核心内容：发现 1：tool-specific RL 提高任务 reward，同时提高 hallucination。；发现 2：即使只做 math GRPO，也会提高后续 tool hallucination，说明不只是工具数据过拟合。；发现 3：R1 distillation 与 thinking mode 同样放大问题。。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本页目的：最终答案更准，不代表工具增强过程更可信。讲解时先给出结论，再解释证据和方法边界。核心内容：现象：模型把 Code Interpreter 输出当作证明的替代，跳过必要逻辑、假设与创造性推理。；PyMath：1,679 道 Python 有帮助但不充分的竞赛数学题。；结果：tool-augmented model 最终准确率最高可提升 19.3pp；但过程 pairwise win、miss rate、PRM 等变差；高风险案例约 55% 出现 TIM。。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本页目的：四类错误 + 三类结果，构成可训练的可靠工具调用目标。讲解时先给出结论，再解释证据和方法边界。核心内容：四类：tool type、tool timing、tool format、tool content hallucination。；RelyToolBench：在 StableToolBench 基础上加入 Missing Parameter 与 Unmatched Tools。；指标：Tool Hallucination Rate、Reliable Pass Rate、Benefit–Cost Utility。。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本页目的：条件不足时，ChangeTools / TalkToUser 比编造参数更可靠。讲解时先给出结论，再解释证据和方法边界。核心内容：Reliable SFT：构造工具替换与参数缺失样本，教会模型输出 indecisive actions。；Reliable DPO：从多个轨迹构造偏好对：correct &gt; indecisive &gt; hallucinated。；意义：将“拒绝、澄清、换工具”视为有效 Agent action，而非任务失败。。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本页目的：可靠性对齐同时降低工具幻觉和无效调用。讲解时先给出结论，再解释证据和方法边界。核心内容：ToolLLaMA：overall THR 约 56.5 → 18.3。；Llama-3.1-8B：约 50.8 → 14.6，RePR 提升到约 77.2。；Qwen2.5-7B：约 49.2 → 17.6。。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本页目的：如果自动 judge 与人类接近随机，所有缓解结论都会失真。讲解时先给出结论，再解释证据和方法边界。核心内容：数据：约 2,000 tasks、2,300 traces，Calendar/Weather/Medical/Knowledge；Retail held-out。；干预：把首次关键参数替换为 schema 合法但语义错误的值。；三个阶段：S1 注入发生；S2 工具执行受影响；S3 最终答案错误。。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本页目的：错误参数传播到最终错误的概率约 0.62。讲解时先给出结论，再解释证据和方法边界。核心内容：发现：不同模型传播概率约 0.46–0.73。；能力分解：rejection 与 recovery Spearman ρ=0.126，近似独立。；Runtime interceptor：L1 schema/tool error；L2 thought keyword monitor；L3 unsupported output consistency。。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本页目的：只审最终 response，会漏掉 procedural 与 scope hallucination。讲解时先给出结论，再解释证据和方法边界。核心内容：数据：225 条专家标注 AssetOps multi-agent trajectories，来自 42 个工业问题与 6 个模型配置。；五类：Factual、Referential、Logical、Procedural、Scope。；检测：subtask-level BERT/NLI、trajectory-level Longformer、LLM-as-a-Judge。。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本页目的：68.3% 轨迹被人工识别为 hallucinated，近半包含多种类型。讲解时先给出结论，再解释证据和方法边界。核心内容：统计：procedural 约 38.5%，factual 26.3%，scope 19.8%。；LLM judge：binary F1 约 0.855、recall 高但偏过度标注；logical/referential F1 仅约 0.258/0.222。；简单 execution-quality signals 很强：clarity/justification AUC 约 0.908。。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本页目的：运行时缓解可以分布在动作提交前后。讲解时先给出结论，再解释证据和方法边界。核心内容：Pre-action：GUI-Critic-R1 检查 candidate outcome，防止不可逆动作。；Post-effect：VeriGUI 比较 expectation 与 actual state，避免失败动作循环。；Post-trajectory：VAGEN/IRA 主动取证，避免“看起来完成”的幻觉。。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本页目的：概率模型负责判断，确定性 Guard 负责限制副作用。讲解时先给出结论，再解释证据和方法边界。核心内容：本地 Sentinel：低成本过滤 presentation-layer prompt injection。；云端 Deep Planner：处理高语义复杂度的间接攻击。；本地 deterministic Guard：在执行边界限制敏感 side-effect actions，fail closed。。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本页目的：Detect → Attribute → Decide → Verify → Recover → Audit。讲解时先给出结论，再解释证据和方法边界。核心内容：Detect：动作/轨迹是否缺乏支持。；Attribute：定位 root cause step 与错误类型。；Decide：allow / abstain / ask / change tool / escalate / block。。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本页目的：可靠性不是最后附加的模块，而是其他三个方向成立的条件。讲解时先给出结论，再解释证据和方法边界。核心内容：对 A：投机动作只有被可靠验证、可停止/回滚时才真正 lossless。；对 B：路由必须同时考虑能力、成本、隐私与风险；高风险语义可升级云端，副作用在本地守卫。；对 C：GUI success 必须由可见与隐藏状态共同证明，且错误恢复应单独评测。。 不要把相关性或单步指标等同于端到端任务成功；对结果数字说明比较对象，对原图按从左到右或从上到下的顺序讲。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1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3.png"/><Relationship Id="rId4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5.png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"/>
            <a:ext cx="4160520" cy="857539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1261872"/>
            <a:ext cx="9582912" cy="109728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710928" y="1261872"/>
            <a:ext cx="2057400" cy="109728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2194560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694CA6"/>
                </a:solidFill>
                <a:latin typeface="Microsoft YaHei"/>
              </a:rPr>
              <a:t>D · TRUST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084831"/>
            <a:ext cx="6720840" cy="7772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3200" b="1" i="0">
                <a:solidFill>
                  <a:srgbClr val="A60000"/>
                </a:solidFill>
                <a:latin typeface="Microsoft YaHei"/>
              </a:rPr>
              <a:t>D．可靠性与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2926080"/>
            <a:ext cx="6492240" cy="78638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900" b="0" i="0">
                <a:solidFill>
                  <a:srgbClr val="1C2533"/>
                </a:solidFill>
                <a:latin typeface="Microsoft YaHei"/>
              </a:rPr>
              <a:t>从动作不忠实、根因归因到工具缓解与轨迹审计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09560" y="184708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19872" y="195681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17152" y="194767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证据是否支持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9528048" y="2779776"/>
            <a:ext cx="0" cy="265176"/>
          </a:xfrm>
          <a:prstGeom prst="line">
            <a:avLst/>
          </a:prstGeom>
          <a:ln w="22860">
            <a:solidFill>
              <a:srgbClr val="694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909560" y="308152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319125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ATTRIBUTE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7152" y="318211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根因与传播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528048" y="4014216"/>
            <a:ext cx="0" cy="265176"/>
          </a:xfrm>
          <a:prstGeom prst="line">
            <a:avLst/>
          </a:prstGeom>
          <a:ln w="22860">
            <a:solidFill>
              <a:srgbClr val="694CA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909560" y="4315968"/>
            <a:ext cx="3236976" cy="93268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19872" y="4425696"/>
            <a:ext cx="1078992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694CA6"/>
                </a:solidFill>
                <a:latin typeface="Microsoft YaHei"/>
              </a:rPr>
              <a:t>RECOVER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17152" y="4416552"/>
            <a:ext cx="1700784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0" i="0">
                <a:solidFill>
                  <a:srgbClr val="1C2533"/>
                </a:solidFill>
                <a:latin typeface="Microsoft YaHei"/>
              </a:rPr>
              <a:t>拦截 · 重试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50392" y="4233672"/>
            <a:ext cx="6309360" cy="102412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24712" y="4462272"/>
            <a:ext cx="5760720" cy="50292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700" b="1" i="0">
                <a:solidFill>
                  <a:srgbClr val="694CA6"/>
                </a:solidFill>
                <a:latin typeface="Microsoft YaHei"/>
              </a:rPr>
              <a:t>A 决定何时并行　B 决定在哪里执行　C 决定执行什么　D 决定能否信任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687568"/>
            <a:ext cx="105613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A60000"/>
                </a:solidFill>
                <a:latin typeface="Microsoft YaHei"/>
              </a:rPr>
              <a:t>Agent 系统 Survey｜武汉大学国家网络安全学院｜张帅｜2026.08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6437376"/>
            <a:ext cx="1124712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Microsoft YaHei"/>
              </a:rPr>
              <a:t>自强 · 弘毅 · 求是 · 拓新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D 研究的第一步，是避免把所有 Agent failure 都叫 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Wrong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不利于任务，但可能是合理探索或策略低效。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Hallucinated 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不被 task instruction、interaction history 或 environment observation 支持。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System failure：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工具异常、超时、环境崩溃、格式错误，不一定源于模型幻觉。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Security compromise：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prompt injection/越权导致错误动作，诱因来自对抗输入。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可靠性是总集合；幻觉是其中“缺乏证据支撑”的子类。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Agent 可靠性至少有四个观察粒度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3/25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Response-level：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最终答案是否正确/有事实依据。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Action-level：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当前动作是否忠实于任务、历史和环境。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Step-level attribution：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哪一步首次偏离、为什么。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Trajectory/system-level：错误如何传播，是否跨 Agent/工具/角色边界。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底部提示：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最终任务成功也可能掩盖不可靠过程；最终失败也不一定来自最末一步。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本章不按 benchmark 堆叠，而按可靠性问题链组织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4/25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定义/诱发：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MIRAGE-Bench。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定位/调试：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AgentHallu、AgentDebug。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机理：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Reasoning Trap、Tool-Induced Myopia。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训练缓解：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Relign。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运行时缓解：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AgentProp-Bench interceptor、GUI verifier。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轨迹审计：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Trajel。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跨方向安全：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Cognitive Firewall。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whu-cs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动作不忠实于任务、历史或观察，才属于 Agent 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5/25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5-mirage-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8609" y="1335024"/>
            <a:ext cx="3443149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论文原图：MIRAGE overview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Task-unfaithful：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忽略约束、越出请求范围、宣称不要求的目标。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History-unfaithful：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引用不存在结果、重复已失败动作、假设用户已回复。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Observation-unfaithful：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编造按钮/文件/页面状态、假设环境已转移或任务已完成。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关键区分：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utility=0 的错误动作可能是 hallucination；但合理探索失败不必算 hallucination。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冻结高风险决策点，避免完整 rollout 的不可复现性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6/25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6-mirage-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531789"/>
            <a:ext cx="5047488" cy="194986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论文原图：MIRAGE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风险场景：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out-of-scope query、unexpected transition、unachievable goal、ill-specified instruction、flawed history、popup distraction。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方法：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 WebArena、OSWorld、WorkArena、SWE-Bench、τ-bench 等环境审计风险点；冻结 context snapshot；让模型预测下一动作。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risk-aware LLM judge 给 Utility 0/1/2，并统计 hallucination rate。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闭源模型只略优于开源；编造 UI/完成状态与忽略环境变化普遍存在。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snapshot 提高可复现性，但弱化真实长期传播。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知道“有幻觉”远远不够，还要找到最早 responsible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7/25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7-agenthallu-teas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181436"/>
            <a:ext cx="5047488" cy="265057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论文原图：AgentHallu teaser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任务 1 Where：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定位轨迹中首次导致后续错误的 hallucination-responsible step。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任务 2 Why：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解释该步为什么不被证据支持，并归入 taxonomy。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五大类：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Planning、Retrieval、Reasoning、Human-Interaction、Tool-Use；共 14 子类。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轨迹表示：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Thought–Action–Observation 多步序列。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检测相对容易，精准定位仍很难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8/25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8-agenthallu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907305"/>
            <a:ext cx="5047488" cy="2430741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论文原图：AgentHallu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693 高质量 trajectories；443 hallucinated、250 clean；7 种 agent framework、5 个 domain；平均约 7.6 steps。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评测：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13 个闭源/开源模型；多层标注覆盖 binary、step、causal explanation。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最佳 step localization accuracy 仅 41.1%；tool-use attribution 仅 11.6%。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趋势：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轨迹越长越难；step-by-step prompting 有帮助，但 token 成本增加。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研究含义：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需要低成本、可在线触发的 attribution，而不是每次交给最大 judge 全轨迹复盘。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693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trajectories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41.1%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best localization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11.6%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tool-use attribution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Where LLM Agents Fail：模块化诊断，而不是只改最后一个 action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9/25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170432"/>
            <a:ext cx="571500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09-agentdebug-metho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226941"/>
            <a:ext cx="5404104" cy="221209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2057400" y="5394960"/>
            <a:ext cx="379476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论文原图：AgentDebug method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82512" y="1170432"/>
            <a:ext cx="535838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537960" y="1335024"/>
            <a:ext cx="393192" cy="393192"/>
          </a:xfrm>
          <a:prstGeom prst="ellipse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353312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1316736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694CA6"/>
                </a:solidFill>
                <a:latin typeface="Microsoft YaHei"/>
              </a:rPr>
              <a:t>Stage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65392" y="1719072"/>
            <a:ext cx="499262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逐模块分析当前轨迹。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82512" y="2578608"/>
            <a:ext cx="535838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537960" y="2743200"/>
            <a:ext cx="393192" cy="393192"/>
          </a:xfrm>
          <a:prstGeom prst="ellipse">
            <a:avLst/>
          </a:prstGeom>
          <a:solidFill>
            <a:srgbClr val="225D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37960" y="2761488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40880" y="2724912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225DA8"/>
                </a:solidFill>
                <a:latin typeface="Microsoft YaHei"/>
              </a:rPr>
              <a:t>Stage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127248"/>
            <a:ext cx="499262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定位 critical/root-cause error。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82512" y="3986784"/>
            <a:ext cx="5358384" cy="12252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537960" y="4151376"/>
            <a:ext cx="393192" cy="393192"/>
          </a:xfrm>
          <a:prstGeom prst="ellipse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4169664"/>
            <a:ext cx="393192" cy="3200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4133088"/>
            <a:ext cx="4535424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500" b="1" i="0">
                <a:solidFill>
                  <a:srgbClr val="694CA6"/>
                </a:solidFill>
                <a:latin typeface="Microsoft YaHei"/>
              </a:rPr>
              <a:t>Stage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65392" y="4535424"/>
            <a:ext cx="4992624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生成针对性 feedback，从 critical step 重新 rollout。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65392" y="5852160"/>
            <a:ext cx="4965192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300" b="1" i="0">
                <a:solidFill>
                  <a:srgbClr val="A60000"/>
                </a:solidFill>
                <a:latin typeface="Microsoft YaHei"/>
              </a:rPr>
              <a:t>关键点：失败可能由早期 memory/planning 产生，末尾动作只是症状。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正确的重启位置比“从头再来”或“只改最后一步”更有效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10/25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0-agentdebug-rep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179" y="1335024"/>
            <a:ext cx="5007273" cy="35753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论文原图：AgentDebug repair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200 条专家标注失败轨迹，覆盖 ALFWorld、WebShop、GAIA。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检测：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AgentDebug 的 all-correct 与 step accuracy 优于 direct prompting/self-refine 等 baseline。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修复：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论文报告下游 task success 相对最多提升 26%；多个模型/环境均受益。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代价：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强 judge + 部分 trajectory replay；general failure taxonomy 不完全等同于 hallucination。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启示：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D 的最终目标应是 attribution-guided intervention，而非只做审计报告。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+26%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relative task success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工具把“语言错误”转化为可执行副作用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11/25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类型 1 Tool selection：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调用不存在/不相关工具，或调用时机错误。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类型 2 Tool usage：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JSON/schema 错、参数名/类型错、参数内容编造。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传播链：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fabricated parameter → tool output → reasoning accepts output → wrong final action/answer。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特殊能力：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rejection（执行前拒绝坏参数）与 recovery（接受后能纠错）并非同一种能力。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控制实验给出反直觉答案：think harder 可能更敢于调用错误工具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12/25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Reasoning_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124959"/>
            <a:ext cx="5047488" cy="276352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论文原图：Reasoning Trap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Benchmark：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SimpleToolHalluBench。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NTA：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任务需要工具，但当前没有任何工具；正确行为是说明无法完成/询问用户。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DT：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只提供 distractor tool；正确行为仍是不误用。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对照：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 RL、math GRPO、R1 distillation、thinking on/off、prompt、DPO。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研究问题：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是工具训练过拟合，还是 reasoning enhancement 本身改变了行动倾向？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RL、蒸馏和推理模式均出现“性能越高，工具幻觉越多”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13/25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3-reasoning-trap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1778508"/>
            <a:ext cx="5047488" cy="34564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论文原图：Reasoning Trap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发现 1：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tool-specific RL 提高任务 reward，同时提高 hallucination。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发现 2：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即使只做 math GRPO，也会提高后续 tool hallucination，说明不只是工具数据过拟合。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发现 3：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R1 distillation 与 thinking mode 同样放大问题。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缓解：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prompt engineering 很弱；DPO 可降低 hallucination，但牺牲 utility。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训练目标必须显式优化 abstention/solvability/reliability，不能假设 reasoning 会自然带来谨慎。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最终答案更准，不代表工具增强过程更可信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14/25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4-tool-induced-myopi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226444"/>
            <a:ext cx="5047488" cy="179246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论文原图：Tool-Induced Myopia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现象：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模型把 Code Interpreter 输出当作证明的替代，跳过必要逻辑、假设与创造性推理。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PyMath：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1,679 道 Python 有帮助但不充分的竞赛数学题。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tool-augmented model 最终准确率最高可提升 19.3pp；但过程 pairwise win、miss rate、PRM 等变差；高风险案例约 55% 出现 TIM。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启示：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工具 observation 进入最终结论前，还需要 reasoning faithfulness check。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1,679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PyMath tasks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+19.3pp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final accuracy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≈55%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high-risk TIM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四类错误 + 三类结果，构成可训练的可靠工具调用目标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15/25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5-relign-taxonom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5741" y="1335024"/>
            <a:ext cx="5008885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论文原图：Relign taxonomy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四类：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 type、tool timing、tool format、tool content hallucination。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RelyToolBench：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 StableToolBench 基础上加入 Missing Parameter 与 Unmatched Tools。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指标：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Tool Hallucination Rate、Reliable Pass Rate、Benefit–Cost Utility。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三类响应：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correct tool action；indecisive action；hallucinated action。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条件不足时，ChangeTools / TalkToUser 比编造参数更可靠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16/25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43584"/>
            <a:ext cx="4892040" cy="233172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Reliable SFT：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构造工具替换与参数缺失样本，教会模型输出 indecisive actions。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Reliable DPO：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从多个轨迹构造偏好对：correct &gt; indecisive &gt; hallucinated。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意义：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将“拒绝、澄清、换工具”视为有效 Agent action，而非任务失败。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5000" y="1325880"/>
            <a:ext cx="5989320" cy="1234440"/>
          </a:xfrm>
          <a:prstGeom prst="roundRect">
            <a:avLst/>
          </a:prstGeom>
          <a:solidFill>
            <a:srgbClr val="F2FBF9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relign-pre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0760" y="1606449"/>
            <a:ext cx="5257800" cy="56357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06440" y="2862072"/>
            <a:ext cx="5715000" cy="2331720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公式化偏好：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a_correct ≻ a_indecisive ≻ a_hallucinated。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固定的两类 indecisive action 仍较粗；timing/重复调用涉及轨迹记忆。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30352" y="3913632"/>
            <a:ext cx="4864608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059936"/>
            <a:ext cx="4517136" cy="31089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1" i="0">
                <a:solidFill>
                  <a:srgbClr val="694CA6"/>
                </a:solidFill>
                <a:latin typeface="Microsoft YaHei"/>
              </a:rPr>
              <a:t>核心变化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4462272"/>
            <a:ext cx="4498848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1600" b="0" i="0">
                <a:solidFill>
                  <a:srgbClr val="1C2533"/>
                </a:solidFill>
                <a:latin typeface="Microsoft YaHei"/>
              </a:rPr>
              <a:t>拒绝、澄清与换工具是合法 action，不再被当作消极失败。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6108192"/>
            <a:ext cx="48920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公式采用 Times New Roman / STIX，并作为独立透明 PNG 元素插入。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可靠性对齐同时降低工具幻觉和无效调用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17/25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d-17-relign-resul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6440" y="2566734"/>
            <a:ext cx="5047488" cy="111188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论文原图：Relign results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ToolLLaMA：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overall THR 约 56.5 → 18.3。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Llama-3.1-8B：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约 50.8 → 14.6，RePR 提升到约 77.2。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Qwen2.5-7B：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约 49.2 → 17.6。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观察：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常规 tool-learning 可提高 pass rate，却不自动降低 hallucination/cost。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局限：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依赖 GPT-4o evaluator 训练与评测；对长轨迹 logical/referential 幻觉覆盖有限。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29651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5137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56.5→18.3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5137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ToolLLaMA THR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50.8→14.6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Llama-3.1 THR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7201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2688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49.2→17.6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2688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Qwen2.5 THR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如果自动 judge 与人类接近随机，所有缓解结论都会失真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18/25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judge_agree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1663987"/>
            <a:ext cx="5047488" cy="291737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论文原图：AgentProp judge agreement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约 2,000 tasks、2,300 traces，Calendar/Weather/Medical/Knowledge；Retail held-out。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干预：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把首次关键参数替换为 schema 合法但语义错误的值。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三个阶段：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S1 注入发生；S2 工具执行受影响；S3 最终答案错误。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Judge 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substring heuristic 与人类 κ=0.049；3-LLM ensemble κ=0.432，但偏保守。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κ=.049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substring judge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κ=.432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3-LLM ensemble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错误参数传播到最终错误的概率约 0.62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19/25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0" y="1170432"/>
            <a:ext cx="5321808" cy="407822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_interceptor_eff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320" y="1335024"/>
            <a:ext cx="4973727" cy="357530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812280" y="4974336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论文原图：AgentProp interceptor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" y="1170432"/>
            <a:ext cx="5321808" cy="407822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1389888"/>
            <a:ext cx="4882896" cy="3675888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发现：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不同模型传播概率约 0.46–0.73。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能力分解：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rejection 与 recovery Spearman ρ=0.126，近似独立。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Runtime interceptor：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L1 schema/tool error；L2 thought keyword monitor；L3 unsupported output consistency。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GPT-4o-mini hallucination 55.8%→32.8%，下降 23pp；对高拒绝率 Gemini 效果不显著。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结论：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runtime mitigation 必须针对具体 failure mode 与 model behavior 调整。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≈0.62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error propagation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55.8→32.8%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GPT-4o-mini hallu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只审最终 response，会漏掉 procedural 与 scope hallucination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20/25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70432"/>
            <a:ext cx="5321808" cy="4846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2239006"/>
            <a:ext cx="5047488" cy="253543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581912" y="5742432"/>
            <a:ext cx="3913632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900" b="0" i="1">
                <a:solidFill>
                  <a:srgbClr val="4E5867"/>
                </a:solidFill>
                <a:latin typeface="Microsoft YaHei"/>
              </a:rPr>
              <a:t>论文原图：Trajel architecture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170432"/>
            <a:ext cx="5321808" cy="4846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65976" y="1389888"/>
            <a:ext cx="4882896" cy="4443984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数据：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225 条专家标注 AssetOps multi-agent trajectories，来自 42 个工业问题与 6 个模型配置。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五类：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Factual、Referential、Logical、Procedural、Scope。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检测：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subtask-level BERT/NLI、trajectory-level Longformer、LLM-as-a-Judge。</a:t>
            </a:r>
          </a:p>
          <a:p>
            <a:pPr>
              <a:lnSpc>
                <a:spcPct val="107000"/>
              </a:lnSpc>
              <a:spcAft>
                <a:spcPts val="6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特点：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Agent 角色边界与工业流程顺序也是 evidence；越权或跳步即使最终答案合理仍不可靠。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68.3% 轨迹被人工识别为 hallucinated，近半包含多种类型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21/25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统计：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procedural 约 38.5%，factual 26.3%，scope 19.8%。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LLM judge：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binary F1 约 0.855、recall 高但偏过度标注；logical/referential F1 仅约 0.258/0.222。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简单 execution-quality signals 很强：clarity/justification AUC 约 0.908。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rPr sz="1600">
                <a:solidFill>
                  <a:srgbClr val="1C2533"/>
                </a:solidFill>
                <a:latin typeface="Microsoft YaHei"/>
              </a:rPr>
              <a:t>• </a:t>
            </a:r>
            <a:r>
              <a:rPr sz="1600">
                <a:solidFill>
                  <a:srgbClr val="1C2533"/>
                </a:solidFill>
                <a:latin typeface="Microsoft YaHei"/>
              </a:rPr>
              <a:t>当 justification 与 result verification 同时缺失，hallucination rate 约 97.1%。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启示：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低成本运行时 kill-switch 可能来自可解释执行信号，而非更大分类器。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2639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7503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68.3%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7503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human hallu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590391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A6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45255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A60000"/>
                </a:solidFill>
                <a:latin typeface="Microsoft YaHei"/>
              </a:rPr>
              <a:t>F1=.855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45255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binary judge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8143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25D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33007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25DA8"/>
                </a:solidFill>
                <a:latin typeface="Microsoft YaHei"/>
              </a:rPr>
              <a:t>AUC=.908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33007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execution signal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65895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4A3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20759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24A39C"/>
                </a:solidFill>
                <a:latin typeface="Microsoft YaHei"/>
              </a:rPr>
              <a:t>97.1%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20759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no justify+verify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运行时缓解可以分布在动作提交前后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22/25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Pre-action：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GUI-Critic-R1 检查 candidate outcome，防止不可逆动作。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Post-effect：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VeriGUI 比较 expectation 与 actual state，避免失败动作循环。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Post-trajectory：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VAGEN/IRA 主动取证，避免“看起来完成”的幻觉。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与 Relign/AgentProp 的对应：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policy alignment 决定是否行动；runtime verifier 决定是否提交/继续/确认完成。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概率模型负责判断，确定性 Guard 负责限制副作用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23/25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059936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本地 Sentinel：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低成本过滤 presentation-layer prompt injection。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云端 Deep Planner：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处理高语义复杂度的间接攻击。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本地 deterministic Guard：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在执行边界限制敏感 side-effect actions，fail closed。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0599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3602736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结果：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ASR &lt;1%；同时减少不必要云推理。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可靠性启示：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即使 semantic detector 漏判，也不应让模型自由提交所有外部副作用。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84267" y="5504688"/>
            <a:ext cx="2423160" cy="786384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694C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9131" y="5559551"/>
            <a:ext cx="2313432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694CA6"/>
                </a:solidFill>
                <a:latin typeface="Microsoft YaHei"/>
              </a:rPr>
              <a:t>ASR &lt;1%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9131" y="5961888"/>
            <a:ext cx="2313432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lnSpc>
                <a:spcPct val="104000"/>
              </a:lnSpc>
              <a:spcAft>
                <a:spcPts val="0"/>
              </a:spcAft>
            </a:pPr>
            <a:r>
              <a:rPr sz="1100" b="0" i="0">
                <a:solidFill>
                  <a:srgbClr val="4E5867"/>
                </a:solidFill>
                <a:latin typeface="Microsoft YaHei"/>
              </a:rPr>
              <a:t>Cognitive Firewall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Detect → Attribute → Decide → Verify → Recover → Audit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24/25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Detect：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动作/轨迹是否缺乏支持。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Attribute：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定位 root cause step 与错误类型。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Decide：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allow / abstain / ask / change tool / escalate / block。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Verify：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检查工具输出、GUI state transition 与完成条件。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Recover：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从 critical step 重试、回滚或换策略。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Audit：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记录证据、角色边界、judge 决策与干预成本。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设计目标：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在 task utility、hallucination risk、latency/cost 与 over-refusal 之间形成 Pareto。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09728"/>
            <a:ext cx="2331720" cy="48059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70632" y="146304"/>
            <a:ext cx="8732520" cy="548640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>
              <a:lnSpc>
                <a:spcPct val="104000"/>
              </a:lnSpc>
              <a:spcAft>
                <a:spcPts val="0"/>
              </a:spcAft>
            </a:pPr>
            <a:r>
              <a:rPr sz="2200" b="1" i="0">
                <a:solidFill>
                  <a:srgbClr val="1C2533"/>
                </a:solidFill>
                <a:latin typeface="Microsoft YaHei"/>
              </a:rPr>
              <a:t>可靠性不是最后附加的模块，而是其他三个方向成立的条件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237744" y="832104"/>
            <a:ext cx="8961120" cy="32004"/>
          </a:xfrm>
          <a:prstGeom prst="rect">
            <a:avLst/>
          </a:prstGeom>
          <a:solidFill>
            <a:srgbClr val="A6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832104"/>
            <a:ext cx="2633472" cy="32004"/>
          </a:xfrm>
          <a:prstGeom prst="rect">
            <a:avLst/>
          </a:prstGeom>
          <a:solidFill>
            <a:srgbClr val="694C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72600" y="493776"/>
            <a:ext cx="228600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100" b="1" i="0">
                <a:solidFill>
                  <a:srgbClr val="694CA6"/>
                </a:solidFill>
                <a:latin typeface="Microsoft YaHei"/>
              </a:rPr>
              <a:t>可靠性与 Agent 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02568" y="6519672"/>
            <a:ext cx="493776" cy="1645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lnSpc>
                <a:spcPct val="104000"/>
              </a:lnSpc>
              <a:spcAft>
                <a:spcPts val="0"/>
              </a:spcAft>
            </a:pPr>
            <a:r>
              <a:rPr sz="1000" b="0" i="0">
                <a:solidFill>
                  <a:srgbClr val="4E5867"/>
                </a:solidFill>
                <a:latin typeface="Microsoft YaHei"/>
              </a:rPr>
              <a:t>25/25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" y="1188720"/>
            <a:ext cx="5577840" cy="4828032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对 A：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投机动作只有被可靠验证、可停止/回滚时才真正 lossless。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694CA6"/>
                </a:solidFill>
                <a:latin typeface="Microsoft YaHei"/>
              </a:rPr>
              <a:t>对 B：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路由必须同时考虑能力、成本、隐私与风险；高风险语义可升级云端，副作用在本地守卫。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53912" y="1188720"/>
            <a:ext cx="5577840" cy="48280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EE4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9944" y="1444752"/>
            <a:ext cx="5065776" cy="4370832"/>
          </a:xfrm>
          <a:prstGeom prst="rect">
            <a:avLst/>
          </a:prstGeom>
          <a:noFill/>
        </p:spPr>
        <p:txBody>
          <a:bodyPr wrap="square" lIns="45720" rIns="27432" tIns="27432" bIns="27432">
            <a:spAutoFit/>
          </a:bodyPr>
          <a:lstStyle/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对 C：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GUI success 必须由可见与隐藏状态共同证明，且错误恢复应单独评测。</a:t>
            </a:r>
          </a:p>
          <a:p>
            <a:pPr>
              <a:lnSpc>
                <a:spcPct val="107000"/>
              </a:lnSpc>
              <a:spcAft>
                <a:spcPts val="700"/>
              </a:spcAft>
            </a:pPr>
            <a:r>
              <a:t>• </a:t>
            </a:r>
            <a:r>
              <a:rPr sz="1600" b="1">
                <a:solidFill>
                  <a:srgbClr val="225DA8"/>
                </a:solidFill>
                <a:latin typeface="Microsoft YaHei"/>
              </a:rPr>
              <a:t>总观点：</a:t>
            </a:r>
            <a:r>
              <a:rPr sz="1600">
                <a:solidFill>
                  <a:srgbClr val="1C2533"/>
                </a:solidFill>
                <a:latin typeface="Microsoft YaHei"/>
              </a:rPr>
              <a:t>A 决定何时并行，B 决定在哪里执行，C 决定执行什么，D 决定能否信任。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可靠性与 Agent 幻觉 Survey</dc:title>
  <dc:subject>Agent 系统 A–D 整体 Survey</dc:subject>
  <dc:creator>张帅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