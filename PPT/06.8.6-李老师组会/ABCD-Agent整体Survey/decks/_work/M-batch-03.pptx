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本页目的：Agent 系统 Survey：When · Where · What · Trust。讲解时先给出结论，再解释证据和方法边界。核心内容：。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本页目的：单点优化无法决定一个 Agent 系统是否真正有效。讲解时先给出结论，再解释证据和方法边界。核心内容：A：动作可以提前预测，但错误候选会浪费计算或触发副作用。；B：模型可以动态路由，但上传内容、网络等待与隐私暴露会改变收益。；C：GUI/API 执行把语言输出变成真实状态变化，错误可沿轨迹放大。。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本页目的：Observation → Plan → Candidate → Placement/Execution → Verification/Recovery。讲解时先给出结论，再解释证据和方法边界。核心内容：Observation：采集 UI、环境、历史与工具状态。；Plan：生成子目标和动作计划。；Candidate：串行或投机地产生一个/多个候选动作。。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本页目的：A、B、C、D 分别回答 When、Where、What、Trust。讲解时先给出结论，再解释证据和方法边界。核心内容：A When：何时并行、预测多远、如何接受与回退？；B Where：在哪执行、何时上云、传输什么？；C What：执行 GUI、API、tool 还是 OS action？。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本页目的：种子论文构成主线，桥接论文连接系统边界。讲解时先给出结论，再解释证据和方法边界。核心内容：A：Speculative Actions、Dynamic Speculative Agent Planning、PASTE。；B：Hera、CORE、Minions、Agent-X、AgenTEE。；C：OSWorld、UFO²、Mobile-Agent-v3.5、GUI-Critic-R1、VeriGUI、VAGEN、IRA。。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本页目的：A 方向从未来动作预测，走向动态深度与全栈工具并行。讲解时先给出结论，再解释证据和方法边界。核心内容：Speculative Actions：预测未来环境动作，由权威 Actor 验证，保持 lossless 轨迹。；DSP：在线预测动态 k，在延迟与无效调用成本之间移动运行点。；PASTE：从重复工具模式和数据依赖实例化调用，并联合调度工具与 LLM。。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本页目的：B 方向从任务分解，走向 step、block 与可信运行时协作。讲解时先给出结论，再解释证据和方法边界。核心内容：Minions：云端分解、本地私有数据并行执行。；Hera：trajectory-level feedback 学习每一步是否升级到云端。；CORE：从“是否上云”细化为“上传哪些 UI blocks”。。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本页目的：C 方向从真实环境与 AgentOS，走向执行前、中、后的验证。讲解时先给出结论，再解释证据和方法边界。核心内容：OSWorld：可执行、可复现、状态 evaluator 驱动的真实计算机 benchmark。；UFO²：HostAgent/AppAgent、UIA+视觉、GUI/API、多动作与 safeguard。；GUI-Critic-R1：提交前检查 candidate outcome。。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本页目的：D 方向从定义动作幻觉，走向归因、缓解与轨迹审计。讲解时先给出结论，再解释证据和方法边界。核心内容：MIRAGE：动作不被 task、history 或 observation 支持才属于 hallucinated action。；AgentHallu / AgentDebug：定位最早 responsible step，并从关键步骤局部重跑。；Reasoning Trap / TIM：能力更强或工具答案更准，不保证过程更可靠。。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本页目的：CORE 把 B 的“在哪里算”变成 C 的“暴露哪部分 UI”，并受 D 的隐私约束。讲解时先给出结论，再解释证据和方法边界。核心内容：本地：解析 XML/UI hierarchy，布局感知分块并按当前 sub-task 排序。；云端：只读取候选 block，在局部上下文中选择 element/action。；恢复：若局部证据不足，逐轮累积更多 block，而非一次上传全页。。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本页目的：UFO² 同时连接 A 的多动作投机、C 的 OS 执行和 D 的安全验证。讲解时先给出结论，再解释证据和方法边界。核心内容：A：一次生成多个 GUI actions，减少 LLM 往返。；C：HostAgent/AppAgent、UIA/视觉、GUI/API 负责真实桌面执行。；D：每步 control-state check、PiP 隔离与 safeguard 限制副作用。。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本页目的：Agent speculation 同时存在于 token 和 environment action 两个粒度。讲解时先给出结论，再解释证据和方法边界。核心内容：Agent-X ExSpec：从 examples 构建 LLM-free lookup draft，预测动作文本 token。；Speculative Actions：预测未来环境动作或工具调用。；共同点：廉价候选生成 + 强路径验证 + 不改变最终正确语义。。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本页目的：B–C–D 的三段式防线：本地筛查、云端语义、本地守卫。讲解时先给出结论，再解释证据和方法边界。核心内容：Gate 1 Local Sentinel：低成本发现不可见文本、样式欺骗等 presentation-layer 攻击。；Gate 2 Cloud Deep Planner：处理需要强语义理解的间接 prompt injection。；Gate 3 Local Deterministic Guard：在敏感 side-effect action 提交前 fail closed。。 这一页承担跨方向衔接：明确它同时改变了执行位置、动作语义或可靠性边界。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本页目的：一个 GUI 错误应在候选、状态转移和任务完成三个时点被发现。讲解时先给出结论，再解释证据和方法边界。核心内容：Pre-action：GUI-Critic-R1 预测 candidate outcome，阻断高风险动作。；Post-effect：VeriGUI 检查 expectation 与 actual state，避免失败循环。；Post-trajectory：VAGEN/IRA 主动取证，验证隐藏状态、文件和 artifact。。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本页目的：投机执行真正 lossless，需要验证、隔离、停止与恢复语义。讲解时先给出结论，再解释证据和方法边界。核心内容：Candidate isolation：投机结果在确认前不可写入权威状态。；Strict/semantic match：按动作类型选择 tool+args、token 或 state-transition 验证。；Side-effect policy：只读/幂等可激进；支付、删除、发送等必须延迟提交或人工确认。。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160520" cy="8575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582912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10928" y="1261872"/>
            <a:ext cx="2057400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A60000"/>
                </a:solidFill>
                <a:latin typeface="Microsoft YaHei"/>
              </a:rPr>
              <a:t>A–D ·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67208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b="1" i="0">
                <a:solidFill>
                  <a:srgbClr val="A60000"/>
                </a:solidFill>
                <a:latin typeface="Microsoft YaHei"/>
              </a:rPr>
              <a:t>Agent 系统 Survey：When · Where · What ·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926080"/>
            <a:ext cx="64922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0" i="0">
                <a:solidFill>
                  <a:srgbClr val="1C2533"/>
                </a:solidFill>
                <a:latin typeface="Microsoft YaHei"/>
              </a:rPr>
              <a:t>动作投机、端云协同、GUI 执行与可靠性的统一观察框架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84708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95681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WHEN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194767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A · 动作投机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8048" y="2779776"/>
            <a:ext cx="0" cy="265176"/>
          </a:xfrm>
          <a:prstGeom prst="line">
            <a:avLst/>
          </a:prstGeom>
          <a:ln w="22860">
            <a:solidFill>
              <a:srgbClr val="A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9560" y="308152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319125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WHERE / WHAT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318211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B · 端云　C · GUI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8048" y="4014216"/>
            <a:ext cx="0" cy="265176"/>
          </a:xfrm>
          <a:prstGeom prst="line">
            <a:avLst/>
          </a:prstGeom>
          <a:ln w="22860">
            <a:solidFill>
              <a:srgbClr val="A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09560" y="431596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442569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441655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D · 验证恢复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4233672"/>
            <a:ext cx="630936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462272"/>
            <a:ext cx="57607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A60000"/>
                </a:solidFill>
                <a:latin typeface="Microsoft YaHei"/>
              </a:rPr>
              <a:t>A 决定何时并行　B 决定在哪里执行　C 决定执行什么　D 决定能否信任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8756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Agent 系统 Survey｜武汉大学国家网络安全学院｜张帅｜2026.08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单点优化无法决定一个 Agent 系统是否真正有效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动作可以提前预测，但错误候选会浪费计算或触发副作用。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B：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模型可以动态路由，但上传内容、网络等待与隐私暴露会改变收益。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C：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GUI/API 执行把语言输出变成真实状态变化，错误可沿轨迹放大。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验证、恢复与审计决定候选能否提交、结果能否相信。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四个问题同时成立，才构成可部署的 Agent runtime。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Observation → Plan → Candidate → Placement/Execution → Verification/Recovery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3/18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Observation：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采集 UI、环境、历史与工具状态。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Plan：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生成子目标和动作计划。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Candidate：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串行或投机地产生一个/多个候选动作。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Placement/Execution：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选择端、边、云，并以 GUI/API/tool 执行。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Verification/Recovery：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验证状态转移与完成条件，失败则阻断、回滚或重试。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A、B、C、D 分别回答 When、Where、What、Trust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4/18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A When：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何时并行、预测多远、如何接受与回退？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B Where：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在哪执行、何时上云、传输什么？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C What：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执行 GUI、API、tool 还是 OS action？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D Trust：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动作是否有证据、何时阻断、如何恢复与审计？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同一论文可以同时覆盖两个以上坐标，桥接论文应额外汇报。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种子论文构成主线，桥接论文连接系统边界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5/18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Speculative Actions、Dynamic Speculative Agent Planning、PASTE。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B：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Hera、CORE、Minions、Agent-X、AgenTEE。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C：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OSWorld、UFO²、Mobile-Agent-v3.5、GUI-Critic-R1、VeriGUI、VAGEN、IRA。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MIRAGE、AgentHallu、AgentDebug、Reasoning Trap、Relign、AgentProp、Trajel。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桥接：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CORE（B+C+D）、UFO²（A+C+D）、Agent-X（A+B）、Cognitive Firewall（B+C+D）。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A 方向从未来动作预测，走向动态深度与全栈工具并行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6/18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-06-speculative-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087118"/>
            <a:ext cx="5047488" cy="28392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论文原图：Speculative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Speculative Actions：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预测未来环境动作，由权威 Actor 验证，保持 lossless 轨迹。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DSP：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在线预测动态 k，在延迟与无效调用成本之间移动运行点。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PASTE：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从重复工具模式和数据依赖实例化调用，并联合调度工具与 LLM。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共同接口：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候选必须隔离，只有严格验证后才能提交或复用。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B 方向从任务分解，走向 step、block 与可信运行时协作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7/18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-07-hera-device-cloud-coordin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389404"/>
            <a:ext cx="5047488" cy="14665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论文原图：Hera device-cloud coordination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Minions：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云端分解、本地私有数据并行执行。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Hera：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trajectory-level feedback 学习每一步是否升级到云端。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CORE：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从“是否上云”细化为“上传哪些 UI blocks”。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sz="1600">
                <a:solidFill>
                  <a:srgbClr val="1C2533"/>
                </a:solidFill>
                <a:latin typeface="Microsoft YaHei"/>
              </a:rPr>
              <a:t>• 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Agent-X / split inference：优化设备推理与表示层协作。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AgenTEE：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端侧数据不离开仍需执行隔离与远程证明。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9651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137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92.5%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137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Hera cloud success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55.6%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CORE exposure↓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201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688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1.61×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688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Agent-X E2E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C 方向从真实环境与 AgentOS，走向执行前、中、后的验证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8/18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-08-ufo2-ag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694805"/>
            <a:ext cx="5047488" cy="36238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AgentOS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OSWorld：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可执行、可复现、状态 evaluator 驱动的真实计算机 benchmark。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UFO²：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HostAgent/AppAgent、UIA+视觉、GUI/API、多动作与 safeguard。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GUI-Critic-R1：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提交前检查 candidate outcome。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VeriGUI：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比较 expectation 与实际 state transition，识别失败并恢复。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VAGEN/IRA：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完成后主动调用工具读取隐藏状态和 artifact。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D 方向从定义动作幻觉，走向归因、缓解与轨迹审计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9/18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-09-mirage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609" y="1335024"/>
            <a:ext cx="3443149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论文原图：MIRAGE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MIRAGE：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动作不被 task、history 或 observation 支持才属于 hallucinated action。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sz="1600">
                <a:solidFill>
                  <a:srgbClr val="1C2533"/>
                </a:solidFill>
                <a:latin typeface="Microsoft YaHei"/>
              </a:rPr>
              <a:t>• 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AgentHallu / AgentDebug：定位最早 responsible step，并从关键步骤局部重跑。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Reasoning Trap / TIM：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能力更强或工具答案更准，不保证过程更可靠。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Relign / AgentProp：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policy alignment 与 runtime interceptor 两条互补路线。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Trajel：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工业多 Agent 还需审计角色、流程和 scope。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CORE 把 B 的“在哪里算”变成 C 的“暴露哪部分 UI”，并受 D 的隐私约束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10/18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-10-core-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372809"/>
            <a:ext cx="5047488" cy="14997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论文原图：CORE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本地：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解析 XML/UI hierarchy，布局感知分块并按当前 sub-task 排序。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云端：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只读取候选 block，在局部上下文中选择 element/action。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恢复：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若局部证据不足，逐轮累积更多 block，而非一次上传全页。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UI exposure 最多减少 55.6%，成功率接近 cloud-only。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桥接结论：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端云路由可以发生在数据粒度，而不只发生在模型/请求粒度。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55.6%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UI exposure↓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UFO² 同时连接 A 的多动作投机、C 的 OS 执行和 D 的安全验证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11/18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-11-ufo2-speculative-multi-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628217"/>
            <a:ext cx="5047488" cy="17570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speculative multi-action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一次生成多个 GUI actions，减少 LLM 往返。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C：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HostAgent/AppAgent、UIA/视觉、GUI/API 负责真实桌面执行。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每步 control-state check、PiP 隔离与 safeguard 限制副作用。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边界：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多动作不是无条件批量提交；状态不符时必须停止并重新规划。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Agent speculation 同时存在于 token 和 environment action 两个粒度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12/18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-12-agent-x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052673"/>
            <a:ext cx="5047488" cy="21400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论文原图：Agent-X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Agent-X ExSpec：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从 examples 构建 LLM-free lookup draft，预测动作文本 token。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Speculative Actions：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预测未来环境动作或工具调用。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共同点：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廉价候选生成 + 强路径验证 + 不改变最终正确语义。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差异：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token 接受由目标模型逐 token 验证；环境动作接受需观察真实状态与副作用。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Agent-X 端侧 prefill 1.97×、decode 1.73×、E2E 1.61×。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9651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137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1.97×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137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prefill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1.73×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decode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201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688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1.61×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688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end-to-end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B–C–D 的三段式防线：本地筛查、云端语义、本地守卫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13/18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89888"/>
            <a:ext cx="357225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54480"/>
            <a:ext cx="393192" cy="393192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536192"/>
            <a:ext cx="2749295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Gate 1 Local Sentinel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38528"/>
            <a:ext cx="3206495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低成本发现不可见文本、样式欺骗等 presentation-layer 攻击。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02607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85488" y="1389888"/>
            <a:ext cx="357225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40936" y="155448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0936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3856" y="1536192"/>
            <a:ext cx="2749295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25DA8"/>
                </a:solidFill>
                <a:latin typeface="Microsoft YaHei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8368" y="1938528"/>
            <a:ext cx="3206495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Gate 2 Cloud Deep Planner：处理需要强语义理解的间接 prompt injection。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57744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40624" y="1389888"/>
            <a:ext cx="357225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96072" y="1554480"/>
            <a:ext cx="393192" cy="393192"/>
          </a:xfrm>
          <a:prstGeom prst="ellipse">
            <a:avLst/>
          </a:prstGeom>
          <a:solidFill>
            <a:srgbClr val="24A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6072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8992" y="1536192"/>
            <a:ext cx="2749295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4A39C"/>
                </a:solidFill>
                <a:latin typeface="Microsoft YaHei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3503" y="1938528"/>
            <a:ext cx="3206495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Gate 3 Local Deterministic Guard：在敏感 side-effect action 提交前 fail closed。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3931920"/>
            <a:ext cx="1106424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187952"/>
            <a:ext cx="10607040" cy="137160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1,000 adversarial samples 上 ASR &lt;1%。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桥接结论：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概率模型负责判断，确定性 guard 负责限制副作用。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84267" y="5632704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9131" y="5687568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ASR &lt;1%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9131" y="6089904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1,000 adversarial samples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一个 GUI 错误应在候选、状态转移和任务完成三个时点被发现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14/18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Pre-action：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GUI-Critic-R1 预测 candidate outcome，阻断高风险动作。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Post-effect：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VeriGUI 检查 expectation 与 actual state，避免失败循环。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Post-trajectory：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VAGEN/IRA 主动取证，验证隐藏状态、文件和 artifact。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推荐组合：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高风险动作 pre-check；每步 lightweight effect check；结束时 selective interactive verification。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投机执行真正 lossless，需要验证、隔离、停止与恢复语义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A60000"/>
                </a:solidFill>
                <a:latin typeface="Microsoft YaHei"/>
              </a:rPr>
              <a:t>Agent 系统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15/18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Candidate isolation：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投机结果在确认前不可写入权威状态。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Strict/semantic match：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按动作类型选择 tool+args、token 或 state-transition 验证。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A60000"/>
                </a:solidFill>
                <a:latin typeface="Microsoft YaHei"/>
              </a:rPr>
              <a:t>Side-effect policy：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只读/幂等可激进；支付、删除、发送等必须延迟提交或人工确认。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Stop rule：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首个 mismatch、状态异常或风险超阈值立即停止后续候选。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Recovery：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从最后已验证 state 继续，而不是从错误分支继续推理。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系统 Survey Survey</dc:title>
  <dc:subject>Agent 系统 A–D 整体 Survey</dc:subject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