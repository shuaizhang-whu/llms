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301" r:id="rId3"/>
    <p:sldId id="504" r:id="rId5"/>
    <p:sldId id="517" r:id="rId6"/>
    <p:sldId id="522" r:id="rId7"/>
    <p:sldId id="523" r:id="rId8"/>
    <p:sldId id="525" r:id="rId9"/>
    <p:sldId id="524" r:id="rId10"/>
    <p:sldId id="526" r:id="rId11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7EFE8"/>
    <a:srgbClr val="950405"/>
    <a:srgbClr val="FFFEFE"/>
    <a:srgbClr val="910100"/>
    <a:srgbClr val="00787B"/>
    <a:srgbClr val="A00000"/>
    <a:srgbClr val="9B0000"/>
    <a:srgbClr val="B70909"/>
    <a:srgbClr val="C812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4" autoAdjust="0"/>
    <p:restoredTop sz="94660"/>
  </p:normalViewPr>
  <p:slideViewPr>
    <p:cSldViewPr snapToGrid="0">
      <p:cViewPr varScale="1">
        <p:scale>
          <a:sx n="58" d="100"/>
          <a:sy n="58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8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FA7932-E85F-4248-9B4B-4E2549D3C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7610CC-46E8-4C8B-B88B-349CF7B42F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7610CC-46E8-4C8B-B88B-349CF7B42F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现在的</a:t>
            </a:r>
            <a:r>
              <a:rPr lang="en-US" altLang="zh-CN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 Agent </a:t>
            </a:r>
            <a:r>
              <a:rPr lang="zh-CN" altLang="en-US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任务通常不是一次模型生成就结束，而是由多轮</a:t>
            </a:r>
            <a:r>
              <a:rPr lang="en-US" altLang="zh-CN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 API </a:t>
            </a:r>
            <a:r>
              <a:rPr lang="zh-CN" altLang="en-US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调用组成，比如</a:t>
            </a:r>
            <a:r>
              <a:rPr lang="en-US" altLang="zh-CN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 LLM </a:t>
            </a:r>
            <a:r>
              <a:rPr lang="zh-CN" altLang="en-US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调用、工具调用、</a:t>
            </a:r>
            <a:r>
              <a:rPr lang="en-US" altLang="zh-CN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MCP </a:t>
            </a:r>
            <a:r>
              <a:rPr lang="zh-CN" altLang="en-US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请求、人类反馈等。问题在于，这些调用大多是串行的，必须等当前</a:t>
            </a:r>
            <a:r>
              <a:rPr lang="en-US" altLang="zh-CN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 API </a:t>
            </a:r>
            <a:r>
              <a:rPr lang="zh-CN" altLang="en-US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返回，下一步才能继续，所以端到端延迟很高。</a:t>
            </a:r>
            <a:endParaRPr lang="zh-CN" altLang="en-US">
              <a:solidFill>
                <a:srgbClr val="202630"/>
              </a:solidFill>
              <a:latin typeface="微软雅黑" panose="020B0503020204020204" charset="-122"/>
              <a:sym typeface="+mn-ea"/>
            </a:endParaRPr>
          </a:p>
          <a:p>
            <a:endParaRPr lang="en-US" altLang="zh-CN">
              <a:solidFill>
                <a:srgbClr val="202630"/>
              </a:solidFill>
              <a:latin typeface="微软雅黑" panose="020B0503020204020204" charset="-122"/>
              <a:sym typeface="+mn-ea"/>
            </a:endParaRPr>
          </a:p>
          <a:p>
            <a:r>
              <a:rPr lang="zh-CN" altLang="en-US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论文的核心想法是：在等待当前</a:t>
            </a:r>
            <a:r>
              <a:rPr lang="en-US" altLang="zh-CN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 API </a:t>
            </a:r>
            <a:r>
              <a:rPr lang="zh-CN" altLang="en-US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返回时，用一个更快的</a:t>
            </a:r>
            <a:r>
              <a:rPr lang="en-US" altLang="zh-CN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 Speculator </a:t>
            </a:r>
            <a:r>
              <a:rPr lang="zh-CN" altLang="en-US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预测后续可能动作，并提前启动下一步</a:t>
            </a:r>
            <a:r>
              <a:rPr lang="en-US" altLang="zh-CN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 API</a:t>
            </a:r>
            <a:r>
              <a:rPr lang="zh-CN" altLang="en-US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。如果预测命中，就直接复用提前启动的结果。</a:t>
            </a:r>
            <a:endParaRPr lang="zh-CN" altLang="en-US">
              <a:solidFill>
                <a:srgbClr val="202630"/>
              </a:solidFill>
              <a:latin typeface="微软雅黑" panose="020B0503020204020204" charset="-122"/>
              <a:sym typeface="+mn-ea"/>
            </a:endParaRPr>
          </a:p>
          <a:p>
            <a:endParaRPr lang="en-US" altLang="zh-CN">
              <a:solidFill>
                <a:srgbClr val="202630"/>
              </a:solidFill>
              <a:latin typeface="微软雅黑" panose="020B0503020204020204" charset="-122"/>
              <a:sym typeface="+mn-ea"/>
            </a:endParaRPr>
          </a:p>
          <a:p>
            <a:r>
              <a:rPr lang="zh-CN" altLang="en-US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本文的创新可以概括成四点：第一，把</a:t>
            </a:r>
            <a:r>
              <a:rPr lang="en-US" altLang="zh-CN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 Agent </a:t>
            </a:r>
            <a:r>
              <a:rPr lang="zh-CN" altLang="en-US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动作统一抽象成</a:t>
            </a:r>
            <a:r>
              <a:rPr lang="en-US" altLang="zh-CN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 API call</a:t>
            </a:r>
            <a:r>
              <a:rPr lang="zh-CN" altLang="en-US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；第二，引入慢速</a:t>
            </a:r>
            <a:r>
              <a:rPr lang="en-US" altLang="zh-CN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 Actor </a:t>
            </a:r>
            <a:r>
              <a:rPr lang="zh-CN" altLang="en-US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和快速</a:t>
            </a:r>
            <a:r>
              <a:rPr lang="en-US" altLang="zh-CN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 Speculator</a:t>
            </a:r>
            <a:r>
              <a:rPr lang="zh-CN" altLang="en-US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；第三，通过缓存实现预测分支的无损复用；第四，给出成本和延迟的理论分析，用来指导投机宽度</a:t>
            </a:r>
            <a:r>
              <a:rPr lang="en-US" altLang="zh-CN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 k </a:t>
            </a:r>
            <a:r>
              <a:rPr lang="zh-CN" altLang="en-US">
                <a:solidFill>
                  <a:srgbClr val="202630"/>
                </a:solidFill>
                <a:latin typeface="微软雅黑" panose="020B0503020204020204" charset="-122"/>
                <a:sym typeface="+mn-ea"/>
              </a:rPr>
              <a:t>的选择。</a:t>
            </a:r>
            <a:endParaRPr lang="zh-CN" altLang="en-US">
              <a:solidFill>
                <a:srgbClr val="20263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传统</a:t>
            </a:r>
            <a:r>
              <a:rPr lang="en-US" altLang="zh-CN"/>
              <a:t> Agent </a:t>
            </a:r>
            <a:r>
              <a:rPr lang="zh-CN" altLang="en-US"/>
              <a:t>是严格串行执行：当前状态经过策略生成</a:t>
            </a:r>
            <a:r>
              <a:rPr lang="en-US" altLang="zh-CN"/>
              <a:t> API </a:t>
            </a:r>
            <a:r>
              <a:rPr lang="zh-CN" altLang="en-US"/>
              <a:t>调用，等待</a:t>
            </a:r>
            <a:r>
              <a:rPr lang="en-US" altLang="zh-CN"/>
              <a:t> API </a:t>
            </a:r>
            <a:r>
              <a:rPr lang="zh-CN" altLang="en-US"/>
              <a:t>返回，再更新到下一状态。这个过程中，只要当前</a:t>
            </a:r>
            <a:r>
              <a:rPr lang="en-US" altLang="zh-CN"/>
              <a:t> API </a:t>
            </a:r>
            <a:r>
              <a:rPr lang="zh-CN" altLang="en-US"/>
              <a:t>没返回，下一步</a:t>
            </a:r>
            <a:r>
              <a:rPr lang="en-US" altLang="zh-CN"/>
              <a:t> API </a:t>
            </a:r>
            <a:r>
              <a:rPr lang="zh-CN" altLang="en-US"/>
              <a:t>就不能启动。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Speculative Actions </a:t>
            </a:r>
            <a:r>
              <a:rPr lang="zh-CN" altLang="en-US"/>
              <a:t>在这个流程里加入了</a:t>
            </a:r>
            <a:r>
              <a:rPr lang="en-US" altLang="zh-CN"/>
              <a:t> Speculator</a:t>
            </a:r>
            <a:r>
              <a:rPr lang="zh-CN" altLang="en-US"/>
              <a:t>。</a:t>
            </a:r>
            <a:r>
              <a:rPr lang="en-US" altLang="zh-CN"/>
              <a:t>Actor </a:t>
            </a:r>
            <a:r>
              <a:rPr lang="zh-CN" altLang="en-US"/>
              <a:t>仍然负责真实</a:t>
            </a:r>
            <a:r>
              <a:rPr lang="en-US" altLang="zh-CN"/>
              <a:t> API </a:t>
            </a:r>
            <a:r>
              <a:rPr lang="zh-CN" altLang="en-US"/>
              <a:t>调用，保证最终正确性；</a:t>
            </a:r>
            <a:r>
              <a:rPr lang="en-US" altLang="zh-CN"/>
              <a:t>Speculator </a:t>
            </a:r>
            <a:r>
              <a:rPr lang="zh-CN" altLang="en-US"/>
              <a:t>在等待期间快速预测当前</a:t>
            </a:r>
            <a:r>
              <a:rPr lang="en-US" altLang="zh-CN"/>
              <a:t> API </a:t>
            </a:r>
            <a:r>
              <a:rPr lang="zh-CN" altLang="en-US"/>
              <a:t>的可能返回，并提前启动对应的下一步</a:t>
            </a:r>
            <a:r>
              <a:rPr lang="en-US" altLang="zh-CN"/>
              <a:t> API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右图用下棋场景说明这个过程。对手还在思考时，系统先预测对手可能走法，并提前分析自己的应对。如果真实走法命中预测分支，就能节省后续思考时间。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算法每一步先根据当前状态生成真实</a:t>
            </a:r>
            <a:r>
              <a:rPr lang="en-US" altLang="zh-CN"/>
              <a:t> API </a:t>
            </a:r>
            <a:r>
              <a:rPr lang="zh-CN" altLang="en-US"/>
              <a:t>调用：</a:t>
            </a:r>
            <a:endParaRPr lang="zh-CN" altLang="en-US"/>
          </a:p>
          <a:p>
            <a:r>
              <a:rPr lang="en-US" altLang="zh-CN"/>
              <a:t>$$</a:t>
            </a:r>
            <a:endParaRPr lang="en-US" altLang="zh-CN"/>
          </a:p>
          <a:p>
            <a:r>
              <a:rPr lang="en-US" altLang="zh-CN"/>
              <a:t>(h_t,q_t)\leftarrow \pi(s_t)</a:t>
            </a:r>
            <a:endParaRPr lang="en-US" altLang="zh-CN"/>
          </a:p>
          <a:p>
            <a:r>
              <a:rPr lang="en-US" altLang="zh-CN"/>
              <a:t>$$</a:t>
            </a:r>
            <a:endParaRPr lang="en-US" altLang="zh-CN"/>
          </a:p>
          <a:p>
            <a:r>
              <a:rPr lang="zh-CN" altLang="en-US"/>
              <a:t>如果这个调用已经在缓存里，就直接复用缓存中的</a:t>
            </a:r>
            <a:r>
              <a:rPr lang="en-US" altLang="zh-CN"/>
              <a:t> pending result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如果没有命中缓存，</a:t>
            </a:r>
            <a:r>
              <a:rPr lang="en-US" altLang="zh-CN"/>
              <a:t>Actor </a:t>
            </a:r>
            <a:r>
              <a:rPr lang="zh-CN" altLang="en-US"/>
              <a:t>发起真实</a:t>
            </a:r>
            <a:r>
              <a:rPr lang="en-US" altLang="zh-CN"/>
              <a:t> API </a:t>
            </a:r>
            <a:r>
              <a:rPr lang="zh-CN" altLang="en-US"/>
              <a:t>请求。同时，</a:t>
            </a:r>
            <a:r>
              <a:rPr lang="en-US" altLang="zh-CN"/>
              <a:t>Speculator </a:t>
            </a:r>
            <a:r>
              <a:rPr lang="zh-CN" altLang="en-US"/>
              <a:t>预测当前</a:t>
            </a:r>
            <a:r>
              <a:rPr lang="en-US" altLang="zh-CN"/>
              <a:t> API </a:t>
            </a:r>
            <a:r>
              <a:rPr lang="zh-CN" altLang="en-US"/>
              <a:t>的</a:t>
            </a:r>
            <a:r>
              <a:rPr lang="en-US" altLang="zh-CN"/>
              <a:t> $k$ </a:t>
            </a:r>
            <a:r>
              <a:rPr lang="zh-CN" altLang="en-US"/>
              <a:t>个可能返回。对每个预测返回，系统构造预测状态，再推出下一步</a:t>
            </a:r>
            <a:r>
              <a:rPr lang="en-US" altLang="zh-CN"/>
              <a:t> API</a:t>
            </a:r>
            <a:r>
              <a:rPr lang="zh-CN" altLang="en-US"/>
              <a:t>，并提前发起这些</a:t>
            </a:r>
            <a:r>
              <a:rPr lang="en-US" altLang="zh-CN"/>
              <a:t> API </a:t>
            </a:r>
            <a:r>
              <a:rPr lang="zh-CN" altLang="en-US"/>
              <a:t>调用，写入缓存。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最后，主状态只等待</a:t>
            </a:r>
            <a:r>
              <a:rPr lang="en-US" altLang="zh-CN"/>
              <a:t> Actor </a:t>
            </a:r>
            <a:r>
              <a:rPr lang="zh-CN" altLang="en-US"/>
              <a:t>的真实返回进行更新。下一轮如果真实</a:t>
            </a:r>
            <a:r>
              <a:rPr lang="en-US" altLang="zh-CN"/>
              <a:t> API </a:t>
            </a:r>
            <a:r>
              <a:rPr lang="zh-CN" altLang="en-US"/>
              <a:t>调用刚好在缓存中，就实现加速。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这一页重点是：算法不是让</a:t>
            </a:r>
            <a:r>
              <a:rPr lang="en-US" altLang="zh-CN"/>
              <a:t> Speculator </a:t>
            </a:r>
            <a:r>
              <a:rPr lang="zh-CN" altLang="en-US"/>
              <a:t>替代</a:t>
            </a:r>
            <a:r>
              <a:rPr lang="en-US" altLang="zh-CN"/>
              <a:t> Actor</a:t>
            </a:r>
            <a:r>
              <a:rPr lang="zh-CN" altLang="en-US"/>
              <a:t>，而是让</a:t>
            </a:r>
            <a:r>
              <a:rPr lang="en-US" altLang="zh-CN"/>
              <a:t> Speculator </a:t>
            </a:r>
            <a:r>
              <a:rPr lang="zh-CN" altLang="en-US"/>
              <a:t>提前准备可能用到的下一步调用。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无损的关键是：主状态只由</a:t>
            </a:r>
            <a:r>
              <a:rPr lang="en-US" altLang="zh-CN"/>
              <a:t> Actor </a:t>
            </a:r>
            <a:r>
              <a:rPr lang="zh-CN" altLang="en-US"/>
              <a:t>的真实返回更新：</a:t>
            </a:r>
            <a:endParaRPr lang="zh-CN" altLang="en-US"/>
          </a:p>
          <a:p>
            <a:r>
              <a:rPr lang="en-US" altLang="zh-CN"/>
              <a:t>$$</a:t>
            </a:r>
            <a:endParaRPr lang="en-US" altLang="zh-CN"/>
          </a:p>
          <a:p>
            <a:r>
              <a:rPr lang="en-US" altLang="zh-CN"/>
              <a:t>s_{t+1}\leftarrow f(s_t,a_t)</a:t>
            </a:r>
            <a:endParaRPr lang="en-US" altLang="zh-CN"/>
          </a:p>
          <a:p>
            <a:r>
              <a:rPr lang="en-US" altLang="zh-CN"/>
              <a:t>$$</a:t>
            </a:r>
            <a:endParaRPr lang="en-US" altLang="zh-CN"/>
          </a:p>
          <a:p>
            <a:r>
              <a:rPr lang="en-US" altLang="zh-CN"/>
              <a:t>Speculator </a:t>
            </a:r>
            <a:r>
              <a:rPr lang="zh-CN" altLang="en-US"/>
              <a:t>只负责预测和预启动，不直接提交状态。缓存里保存的也是提前发起的真实</a:t>
            </a:r>
            <a:r>
              <a:rPr lang="en-US" altLang="zh-CN"/>
              <a:t> API </a:t>
            </a:r>
            <a:r>
              <a:rPr lang="zh-CN" altLang="en-US"/>
              <a:t>调用结果，不是预测结果。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实际命中条件也不是要求预测返回完全等于真实返回，而是要求预测分支推出的下一步</a:t>
            </a:r>
            <a:r>
              <a:rPr lang="en-US" altLang="zh-CN"/>
              <a:t> API </a:t>
            </a:r>
            <a:r>
              <a:rPr lang="zh-CN" altLang="en-US"/>
              <a:t>和真实下一步</a:t>
            </a:r>
            <a:r>
              <a:rPr lang="en-US" altLang="zh-CN"/>
              <a:t> API </a:t>
            </a:r>
            <a:r>
              <a:rPr lang="zh-CN" altLang="en-US"/>
              <a:t>一致：</a:t>
            </a:r>
            <a:endParaRPr lang="zh-CN" altLang="en-US"/>
          </a:p>
          <a:p>
            <a:r>
              <a:rPr lang="en-US" altLang="zh-CN"/>
              <a:t>$$</a:t>
            </a:r>
            <a:endParaRPr lang="en-US" altLang="zh-CN"/>
          </a:p>
          <a:p>
            <a:r>
              <a:rPr lang="en-US" altLang="zh-CN"/>
              <a:t>\pi(f(s_t,\hat{a}_t^{(i)}))=\pi(f(s_t,a_t))</a:t>
            </a:r>
            <a:endParaRPr lang="en-US" altLang="zh-CN"/>
          </a:p>
          <a:p>
            <a:r>
              <a:rPr lang="en-US" altLang="zh-CN"/>
              <a:t>$$</a:t>
            </a:r>
            <a:endParaRPr lang="en-US" altLang="zh-CN"/>
          </a:p>
          <a:p>
            <a:r>
              <a:rPr lang="zh-CN" altLang="en-US"/>
              <a:t>所以只要下一步调用一致，就可以复用缓存。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需要注意的是，这种机制更适合查询、搜索、模型调用、沙箱模拟这类无副作用动作。下单、转账、删除、发邮件这类动作必须谨慎处理。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单个投机分支命中概率是</a:t>
            </a:r>
            <a:r>
              <a:rPr lang="en-US" altLang="zh-CN"/>
              <a:t> $p$</a:t>
            </a:r>
            <a:r>
              <a:rPr lang="zh-CN" altLang="en-US"/>
              <a:t>，</a:t>
            </a:r>
            <a:r>
              <a:rPr lang="en-US" altLang="zh-CN"/>
              <a:t>$k$ </a:t>
            </a:r>
            <a:r>
              <a:rPr lang="zh-CN" altLang="en-US"/>
              <a:t>个分支至少一个命中的概率是：</a:t>
            </a:r>
            <a:endParaRPr lang="zh-CN" altLang="en-US"/>
          </a:p>
          <a:p>
            <a:r>
              <a:rPr lang="en-US" altLang="zh-CN"/>
              <a:t>$$</a:t>
            </a:r>
            <a:endParaRPr lang="en-US" altLang="zh-CN"/>
          </a:p>
          <a:p>
            <a:r>
              <a:rPr lang="en-US" altLang="zh-CN"/>
              <a:t>p(k)=1-(1-p)^k</a:t>
            </a:r>
            <a:endParaRPr lang="en-US" altLang="zh-CN"/>
          </a:p>
          <a:p>
            <a:r>
              <a:rPr lang="en-US" altLang="zh-CN"/>
              <a:t>$$</a:t>
            </a:r>
            <a:endParaRPr lang="en-US" altLang="zh-CN"/>
          </a:p>
          <a:p>
            <a:r>
              <a:rPr lang="en-US" altLang="zh-CN"/>
              <a:t>$k$ </a:t>
            </a:r>
            <a:r>
              <a:rPr lang="zh-CN" altLang="en-US"/>
              <a:t>越大，命中概率越高，但成本也会上升。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论文进一步假设</a:t>
            </a:r>
            <a:r>
              <a:rPr lang="en-US" altLang="zh-CN"/>
              <a:t> Speculator </a:t>
            </a:r>
            <a:r>
              <a:rPr lang="zh-CN" altLang="en-US"/>
              <a:t>延迟是</a:t>
            </a:r>
            <a:r>
              <a:rPr lang="en-US" altLang="zh-CN"/>
              <a:t> $A\sim \mathrm{Exp}(\alpha)$</a:t>
            </a:r>
            <a:r>
              <a:rPr lang="zh-CN" altLang="en-US"/>
              <a:t>，真实</a:t>
            </a:r>
            <a:r>
              <a:rPr lang="en-US" altLang="zh-CN"/>
              <a:t> API </a:t>
            </a:r>
            <a:r>
              <a:rPr lang="zh-CN" altLang="en-US"/>
              <a:t>延迟是</a:t>
            </a:r>
            <a:r>
              <a:rPr lang="en-US" altLang="zh-CN"/>
              <a:t> $B\sim \mathrm{Exp}(\beta)$</a:t>
            </a:r>
            <a:r>
              <a:rPr lang="zh-CN" altLang="en-US"/>
              <a:t>，并且</a:t>
            </a:r>
            <a:r>
              <a:rPr lang="en-US" altLang="zh-CN"/>
              <a:t> Speculator </a:t>
            </a:r>
            <a:r>
              <a:rPr lang="zh-CN" altLang="en-US"/>
              <a:t>更快。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长期来看，投机执行的时间比例为：</a:t>
            </a:r>
            <a:endParaRPr lang="zh-CN" altLang="en-US"/>
          </a:p>
          <a:p>
            <a:r>
              <a:rPr lang="en-US" altLang="zh-CN"/>
              <a:t>$$</a:t>
            </a:r>
            <a:endParaRPr lang="en-US" altLang="zh-CN"/>
          </a:p>
          <a:p>
            <a:r>
              <a:rPr lang="en-US" altLang="zh-CN"/>
              <a:t>\frac{\mathbb{E}[T_s]}{\mathbb{E}[T_{\mathrm{seq}}]}</a:t>
            </a:r>
            <a:endParaRPr lang="en-US" altLang="zh-CN"/>
          </a:p>
          <a:p>
            <a:r>
              <a:rPr lang="en-US" altLang="zh-CN"/>
              <a:t>\rightarrow</a:t>
            </a:r>
            <a:endParaRPr lang="en-US" altLang="zh-CN"/>
          </a:p>
          <a:p>
            <a:r>
              <a:rPr lang="en-US" altLang="zh-CN"/>
              <a:t>1-\frac{p(k)}{1+p(k)}\cdot\frac{\alpha}{\alpha+\beta}</a:t>
            </a:r>
            <a:endParaRPr lang="en-US" altLang="zh-CN"/>
          </a:p>
          <a:p>
            <a:r>
              <a:rPr lang="en-US" altLang="zh-CN"/>
              <a:t>$$</a:t>
            </a:r>
            <a:endParaRPr lang="en-US" altLang="zh-CN"/>
          </a:p>
          <a:p>
            <a:r>
              <a:rPr lang="zh-CN" altLang="en-US"/>
              <a:t>所以延迟收益由两部分决定：一是命中概率带来的收益，二是</a:t>
            </a:r>
            <a:r>
              <a:rPr lang="en-US" altLang="zh-CN"/>
              <a:t> Speculator </a:t>
            </a:r>
            <a:r>
              <a:rPr lang="zh-CN" altLang="en-US"/>
              <a:t>相对</a:t>
            </a:r>
            <a:r>
              <a:rPr lang="en-US" altLang="zh-CN"/>
              <a:t> Actor </a:t>
            </a:r>
            <a:r>
              <a:rPr lang="zh-CN" altLang="en-US"/>
              <a:t>的速度优势。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理论上，当</a:t>
            </a:r>
            <a:r>
              <a:rPr lang="en-US" altLang="zh-CN"/>
              <a:t> $p(k)=1$</a:t>
            </a:r>
            <a:r>
              <a:rPr lang="zh-CN" altLang="en-US"/>
              <a:t>，且</a:t>
            </a:r>
            <a:r>
              <a:rPr lang="en-US" altLang="zh-CN"/>
              <a:t> Speculator </a:t>
            </a:r>
            <a:r>
              <a:rPr lang="zh-CN" altLang="en-US"/>
              <a:t>无限快时，单步宽度投机最多节省约</a:t>
            </a:r>
            <a:r>
              <a:rPr lang="en-US" altLang="zh-CN"/>
              <a:t> 50% </a:t>
            </a:r>
            <a:r>
              <a:rPr lang="zh-CN" altLang="en-US"/>
              <a:t>延迟。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第一个是</a:t>
            </a:r>
            <a:r>
              <a:rPr lang="en-US" altLang="zh-CN"/>
              <a:t> Chess</a:t>
            </a:r>
            <a:r>
              <a:rPr lang="zh-CN" altLang="en-US"/>
              <a:t>。系统在对手思考时提前预测对手走法，并分析自己的下一步。</a:t>
            </a:r>
            <a:r>
              <a:rPr lang="en-US" altLang="zh-CN"/>
              <a:t>3 </a:t>
            </a:r>
            <a:r>
              <a:rPr lang="zh-CN" altLang="en-US"/>
              <a:t>个预测分支时，准确率约</a:t>
            </a:r>
            <a:r>
              <a:rPr lang="en-US" altLang="zh-CN"/>
              <a:t> 54.7%</a:t>
            </a:r>
            <a:r>
              <a:rPr lang="zh-CN" altLang="en-US"/>
              <a:t>，平均节省时间约</a:t>
            </a:r>
            <a:r>
              <a:rPr lang="en-US" altLang="zh-CN"/>
              <a:t> 19.5%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第二个是电商客服。</a:t>
            </a:r>
            <a:r>
              <a:rPr lang="en-US" altLang="zh-CN"/>
              <a:t>Speculator </a:t>
            </a:r>
            <a:r>
              <a:rPr lang="zh-CN" altLang="en-US"/>
              <a:t>预测用户下一步意图和需要调用的工具</a:t>
            </a:r>
            <a:r>
              <a:rPr lang="en-US" altLang="zh-CN"/>
              <a:t> API</a:t>
            </a:r>
            <a:r>
              <a:rPr lang="zh-CN" altLang="en-US"/>
              <a:t>。结果显示</a:t>
            </a:r>
            <a:r>
              <a:rPr lang="en-US" altLang="zh-CN"/>
              <a:t> API </a:t>
            </a:r>
            <a:r>
              <a:rPr lang="zh-CN" altLang="en-US"/>
              <a:t>预测准确率大约在</a:t>
            </a:r>
            <a:r>
              <a:rPr lang="en-US" altLang="zh-CN"/>
              <a:t> 22% </a:t>
            </a:r>
            <a:r>
              <a:rPr lang="zh-CN" altLang="en-US"/>
              <a:t>到</a:t>
            </a:r>
            <a:r>
              <a:rPr lang="en-US" altLang="zh-CN"/>
              <a:t> 38%</a:t>
            </a:r>
            <a:r>
              <a:rPr lang="zh-CN" altLang="en-US"/>
              <a:t>，多模型</a:t>
            </a:r>
            <a:r>
              <a:rPr lang="en-US" altLang="zh-CN"/>
              <a:t> Speculator </a:t>
            </a:r>
            <a:r>
              <a:rPr lang="zh-CN" altLang="en-US"/>
              <a:t>表现更好。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第三个是</a:t>
            </a:r>
            <a:r>
              <a:rPr lang="en-US" altLang="zh-CN"/>
              <a:t> HotpotQA </a:t>
            </a:r>
            <a:r>
              <a:rPr lang="zh-CN" altLang="en-US"/>
              <a:t>多跳搜索。系统在等待</a:t>
            </a:r>
            <a:r>
              <a:rPr lang="en-US" altLang="zh-CN"/>
              <a:t> Wikipedia </a:t>
            </a:r>
            <a:r>
              <a:rPr lang="zh-CN" altLang="en-US"/>
              <a:t>返回时预测后续检索路径。</a:t>
            </a:r>
            <a:r>
              <a:rPr lang="en-US" altLang="zh-CN"/>
              <a:t>top-3 </a:t>
            </a:r>
            <a:r>
              <a:rPr lang="zh-CN" altLang="en-US"/>
              <a:t>预测下准确率最高约</a:t>
            </a:r>
            <a:r>
              <a:rPr lang="en-US" altLang="zh-CN"/>
              <a:t> 46%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这些实验说明，</a:t>
            </a:r>
            <a:r>
              <a:rPr lang="en-US" altLang="zh-CN"/>
              <a:t>Agent </a:t>
            </a:r>
            <a:r>
              <a:rPr lang="zh-CN" altLang="en-US"/>
              <a:t>的下一步</a:t>
            </a:r>
            <a:r>
              <a:rPr lang="en-US" altLang="zh-CN"/>
              <a:t> API </a:t>
            </a:r>
            <a:r>
              <a:rPr lang="zh-CN" altLang="en-US"/>
              <a:t>调用具有一定可预测性，投机动作可以利用这种可预测性减少等待。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左侧</a:t>
            </a:r>
            <a:r>
              <a:rPr lang="en-US" altLang="zh-CN"/>
              <a:t> OS </a:t>
            </a:r>
            <a:r>
              <a:rPr lang="zh-CN" altLang="en-US"/>
              <a:t>调参是有损扩展。</a:t>
            </a:r>
            <a:r>
              <a:rPr lang="en-US" altLang="zh-CN"/>
              <a:t>Speculator </a:t>
            </a:r>
            <a:r>
              <a:rPr lang="zh-CN" altLang="en-US"/>
              <a:t>每秒快速调整参数，</a:t>
            </a:r>
            <a:r>
              <a:rPr lang="en-US" altLang="zh-CN"/>
              <a:t>Actor </a:t>
            </a:r>
            <a:r>
              <a:rPr lang="zh-CN" altLang="en-US"/>
              <a:t>每</a:t>
            </a:r>
            <a:r>
              <a:rPr lang="en-US" altLang="zh-CN"/>
              <a:t> 10 </a:t>
            </a:r>
            <a:r>
              <a:rPr lang="zh-CN" altLang="en-US"/>
              <a:t>到</a:t>
            </a:r>
            <a:r>
              <a:rPr lang="en-US" altLang="zh-CN"/>
              <a:t> 15 </a:t>
            </a:r>
            <a:r>
              <a:rPr lang="zh-CN" altLang="en-US"/>
              <a:t>秒做一次深度修正。结果显示，</a:t>
            </a:r>
            <a:r>
              <a:rPr lang="en-US" altLang="zh-CN"/>
              <a:t>Actor + Speculator </a:t>
            </a:r>
            <a:r>
              <a:rPr lang="zh-CN" altLang="en-US"/>
              <a:t>比</a:t>
            </a:r>
            <a:r>
              <a:rPr lang="en-US" altLang="zh-CN"/>
              <a:t> Actor-only </a:t>
            </a:r>
            <a:r>
              <a:rPr lang="zh-CN" altLang="en-US"/>
              <a:t>更快收敛，也能降低</a:t>
            </a:r>
            <a:r>
              <a:rPr lang="en-US" altLang="zh-CN"/>
              <a:t> p95 latency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右侧</a:t>
            </a:r>
            <a:r>
              <a:rPr lang="en-US" altLang="zh-CN"/>
              <a:t> Figure 6 </a:t>
            </a:r>
            <a:r>
              <a:rPr lang="zh-CN" altLang="en-US"/>
              <a:t>说明投机宽度的选择问题。分支数越多，命中率通常越高，但成本也更高。所以更好的做法是根据置信度选择分支，只启动高价值预测。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最后总结一下：这篇论文把投机解码中的</a:t>
            </a:r>
            <a:r>
              <a:rPr lang="en-US" altLang="zh-CN"/>
              <a:t>“</a:t>
            </a:r>
            <a:r>
              <a:rPr lang="zh-CN" altLang="en-US"/>
              <a:t>预测</a:t>
            </a:r>
            <a:r>
              <a:rPr lang="en-US" altLang="zh-CN"/>
              <a:t>—</a:t>
            </a:r>
            <a:r>
              <a:rPr lang="zh-CN" altLang="en-US"/>
              <a:t>验证</a:t>
            </a:r>
            <a:r>
              <a:rPr lang="en-US" altLang="zh-CN"/>
              <a:t>—</a:t>
            </a:r>
            <a:r>
              <a:rPr lang="zh-CN" altLang="en-US"/>
              <a:t>提交</a:t>
            </a:r>
            <a:r>
              <a:rPr lang="en-US" altLang="zh-CN"/>
              <a:t>”</a:t>
            </a:r>
            <a:r>
              <a:rPr lang="zh-CN" altLang="en-US"/>
              <a:t>思想扩展到</a:t>
            </a:r>
            <a:r>
              <a:rPr lang="en-US" altLang="zh-CN"/>
              <a:t> Agent </a:t>
            </a:r>
            <a:r>
              <a:rPr lang="zh-CN" altLang="en-US"/>
              <a:t>的</a:t>
            </a:r>
            <a:r>
              <a:rPr lang="en-US" altLang="zh-CN"/>
              <a:t> API </a:t>
            </a:r>
            <a:r>
              <a:rPr lang="zh-CN" altLang="en-US"/>
              <a:t>调用层。核心价值是用</a:t>
            </a:r>
            <a:r>
              <a:rPr lang="en-US" altLang="zh-CN"/>
              <a:t> Speculator </a:t>
            </a:r>
            <a:r>
              <a:rPr lang="zh-CN" altLang="en-US"/>
              <a:t>隐藏等待时间，用</a:t>
            </a:r>
            <a:r>
              <a:rPr lang="en-US" altLang="zh-CN"/>
              <a:t> Actor </a:t>
            </a:r>
            <a:r>
              <a:rPr lang="zh-CN" altLang="en-US"/>
              <a:t>保证最终正确性。后续可以继续研究多步投机、动态分支选择，以及工具副作用的安全处理。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36.png"/><Relationship Id="rId11" Type="http://schemas.openxmlformats.org/officeDocument/2006/relationships/image" Target="../media/image35.png"/><Relationship Id="rId10" Type="http://schemas.openxmlformats.org/officeDocument/2006/relationships/image" Target="../media/image34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0055" y="290830"/>
            <a:ext cx="6033770" cy="1243965"/>
          </a:xfrm>
          <a:prstGeom prst="rect">
            <a:avLst/>
          </a:prstGeom>
        </p:spPr>
      </p:pic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187325" y="2519680"/>
            <a:ext cx="11798300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algn="ctr"/>
            <a:r>
              <a:rPr lang="zh-CN" altLang="en-US" sz="4800" b="1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</a:rPr>
              <a:t>组</a:t>
            </a:r>
            <a:r>
              <a:rPr lang="en-US" altLang="zh-CN" sz="4800" b="1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4800" b="1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</a:rPr>
              <a:t>会</a:t>
            </a:r>
            <a:r>
              <a:rPr lang="en-US" altLang="zh-CN" sz="4800" b="1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4800" b="1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sz="4800" b="1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4800" b="1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r>
              <a:rPr lang="en-US" altLang="zh-CN" sz="4800" b="1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4800" b="1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</a:rPr>
              <a:t>汇</a:t>
            </a:r>
            <a:r>
              <a:rPr lang="en-US" altLang="zh-CN" sz="4800" b="1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4800" b="1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</a:rPr>
              <a:t>报</a:t>
            </a:r>
            <a:endParaRPr lang="zh-CN" altLang="en-US" sz="4800" b="1">
              <a:solidFill>
                <a:srgbClr val="9B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2"/>
            </p:custDataLst>
          </p:nvPr>
        </p:nvCxnSpPr>
        <p:spPr>
          <a:xfrm flipV="1">
            <a:off x="716280" y="3683635"/>
            <a:ext cx="10710000" cy="2540"/>
          </a:xfrm>
          <a:prstGeom prst="line">
            <a:avLst/>
          </a:prstGeom>
          <a:ln w="28575" cmpd="sng">
            <a:solidFill>
              <a:srgbClr val="C62C2C"/>
            </a:solidFill>
            <a:prstDash val="solid"/>
          </a:ln>
          <a:effectLst>
            <a:outerShdw blurRad="50800" dist="38100" dir="2700000" algn="tl" rotWithShape="0">
              <a:srgbClr val="002D80">
                <a:alpha val="19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3"/>
            </p:custDataLst>
          </p:nvPr>
        </p:nvCxnSpPr>
        <p:spPr>
          <a:xfrm flipV="1">
            <a:off x="1281430" y="3815715"/>
            <a:ext cx="9630000" cy="2540"/>
          </a:xfrm>
          <a:prstGeom prst="line">
            <a:avLst/>
          </a:prstGeom>
          <a:ln w="28575" cmpd="sng">
            <a:solidFill>
              <a:srgbClr val="C62C2C"/>
            </a:solidFill>
            <a:prstDash val="solid"/>
          </a:ln>
          <a:effectLst>
            <a:outerShdw blurRad="50800" dist="38100" dir="2700000" algn="tl" rotWithShape="0">
              <a:srgbClr val="002D80">
                <a:alpha val="19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4"/>
            </p:custDataLst>
          </p:nvPr>
        </p:nvCxnSpPr>
        <p:spPr>
          <a:xfrm flipV="1">
            <a:off x="1873250" y="3947795"/>
            <a:ext cx="8550000" cy="2540"/>
          </a:xfrm>
          <a:prstGeom prst="line">
            <a:avLst/>
          </a:prstGeom>
          <a:ln w="28575" cmpd="sng">
            <a:solidFill>
              <a:srgbClr val="C62C2C"/>
            </a:solidFill>
            <a:prstDash val="solid"/>
          </a:ln>
          <a:effectLst>
            <a:outerShdw blurRad="50800" dist="38100" dir="2700000" algn="tl" rotWithShape="0">
              <a:srgbClr val="002D80">
                <a:alpha val="19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表格 9"/>
          <p:cNvGraphicFramePr/>
          <p:nvPr>
            <p:custDataLst>
              <p:tags r:id="rId5"/>
            </p:custDataLst>
          </p:nvPr>
        </p:nvGraphicFramePr>
        <p:xfrm>
          <a:off x="2980055" y="4500245"/>
          <a:ext cx="7146925" cy="519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485"/>
                <a:gridCol w="4155440"/>
              </a:tblGrid>
              <a:tr h="5194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>
                          <a:solidFill>
                            <a:srgbClr val="9B0000"/>
                          </a:solidFill>
                          <a:effectLst>
                            <a:outerShdw blurRad="63500" dist="63500" dir="2700000" algn="tl" rotWithShape="0">
                              <a:prstClr val="black">
                                <a:alpha val="20000"/>
                              </a:prst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</a:t>
                      </a:r>
                      <a:r>
                        <a:rPr lang="zh-CN" altLang="en-US" sz="2000" dirty="0">
                          <a:solidFill>
                            <a:srgbClr val="9B0000"/>
                          </a:solidFill>
                          <a:effectLst>
                            <a:outerShdw blurRad="63500" dist="63500" dir="2700000" algn="tl" rotWithShape="0">
                              <a:prstClr val="black">
                                <a:alpha val="20000"/>
                              </a:prst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汇报人：张</a:t>
                      </a:r>
                      <a:r>
                        <a:rPr lang="en-US" altLang="zh-CN" sz="2000" dirty="0">
                          <a:solidFill>
                            <a:srgbClr val="9B0000"/>
                          </a:solidFill>
                          <a:effectLst>
                            <a:outerShdw blurRad="63500" dist="63500" dir="2700000" algn="tl" rotWithShape="0">
                              <a:prstClr val="black">
                                <a:alpha val="20000"/>
                              </a:prst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2000" dirty="0">
                          <a:solidFill>
                            <a:srgbClr val="9B0000"/>
                          </a:solidFill>
                          <a:effectLst>
                            <a:outerShdw blurRad="63500" dist="63500" dir="2700000" algn="tl" rotWithShape="0">
                              <a:prstClr val="black">
                                <a:alpha val="20000"/>
                              </a:prst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帅</a:t>
                      </a:r>
                      <a:r>
                        <a:rPr lang="en-US" altLang="zh-CN" sz="2000" dirty="0">
                          <a:solidFill>
                            <a:srgbClr val="9B0000"/>
                          </a:solidFill>
                          <a:effectLst>
                            <a:outerShdw blurRad="63500" dist="63500" dir="2700000" algn="tl" rotWithShape="0">
                              <a:prstClr val="black">
                                <a:alpha val="20000"/>
                              </a:prst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 </a:t>
                      </a:r>
                      <a:endParaRPr lang="en-US" altLang="zh-CN" sz="2000" dirty="0">
                        <a:solidFill>
                          <a:srgbClr val="9B0000"/>
                        </a:solidFill>
                        <a:effectLst>
                          <a:outerShdw blurRad="63500" dist="63500" dir="2700000" algn="tl" rotWithShape="0">
                            <a:prstClr val="black">
                              <a:alpha val="20000"/>
                            </a:prstClr>
                          </a:outerShdw>
                        </a:effectLs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 dirty="0">
                          <a:solidFill>
                            <a:srgbClr val="9B0000"/>
                          </a:solidFill>
                          <a:effectLst>
                            <a:outerShdw blurRad="63500" dist="63500" dir="2700000" algn="tl" rotWithShape="0">
                              <a:prstClr val="black">
                                <a:alpha val="20000"/>
                              </a:prst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|       </a:t>
                      </a:r>
                      <a:r>
                        <a:rPr lang="zh-CN" altLang="en-US" sz="2000" dirty="0">
                          <a:solidFill>
                            <a:srgbClr val="9B0000"/>
                          </a:solidFill>
                          <a:effectLst>
                            <a:outerShdw blurRad="63500" dist="63500" dir="2700000" algn="tl" rotWithShape="0">
                              <a:prstClr val="black">
                                <a:alpha val="20000"/>
                              </a:prst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汇报时间：</a:t>
                      </a:r>
                      <a:r>
                        <a:rPr lang="en-US" altLang="zh-CN" sz="2000" dirty="0">
                          <a:solidFill>
                            <a:srgbClr val="9B0000"/>
                          </a:solidFill>
                          <a:effectLst>
                            <a:outerShdw blurRad="63500" dist="63500" dir="2700000" algn="tl" rotWithShape="0">
                              <a:prstClr val="black">
                                <a:alpha val="20000"/>
                              </a:prst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2026/7/6</a:t>
                      </a:r>
                      <a:endParaRPr lang="en-US" altLang="zh-CN" sz="2000" dirty="0">
                        <a:solidFill>
                          <a:srgbClr val="9B0000"/>
                        </a:solidFill>
                        <a:effectLst>
                          <a:outerShdw blurRad="63500" dist="63500" dir="2700000" algn="tl" rotWithShape="0">
                            <a:prstClr val="black">
                              <a:alpha val="20000"/>
                            </a:prstClr>
                          </a:outerShdw>
                        </a:effectLs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7" name="矩形 46"/>
          <p:cNvSpPr/>
          <p:nvPr>
            <p:custDataLst>
              <p:tags r:id="rId6"/>
            </p:custDataLst>
          </p:nvPr>
        </p:nvSpPr>
        <p:spPr>
          <a:xfrm>
            <a:off x="10132695" y="1645920"/>
            <a:ext cx="2059305" cy="191770"/>
          </a:xfrm>
          <a:prstGeom prst="rect">
            <a:avLst/>
          </a:prstGeom>
          <a:solidFill>
            <a:srgbClr val="00787B"/>
          </a:solidFill>
          <a:ln cmpd="sng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>
            <p:custDataLst>
              <p:tags r:id="rId7"/>
            </p:custDataLst>
          </p:nvPr>
        </p:nvSpPr>
        <p:spPr>
          <a:xfrm>
            <a:off x="0" y="1645920"/>
            <a:ext cx="10005695" cy="191770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0" y="5866765"/>
            <a:ext cx="12192000" cy="991235"/>
          </a:xfrm>
          <a:prstGeom prst="rect">
            <a:avLst/>
          </a:prstGeom>
          <a:solidFill>
            <a:srgbClr val="9B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4599305" y="6421755"/>
            <a:ext cx="309880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/>
            <a:r>
              <a:rPr lang="zh-CN" alt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自强</a:t>
            </a:r>
            <a:r>
              <a:rPr lang="en-US" altLang="zh-CN" sz="2000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·</a:t>
            </a:r>
            <a:r>
              <a:rPr lang="zh-CN" alt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弘毅</a:t>
            </a:r>
            <a:r>
              <a:rPr lang="en-US" altLang="zh-CN" sz="2000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·</a:t>
            </a:r>
            <a:r>
              <a:rPr lang="zh-CN" alt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求是</a:t>
            </a:r>
            <a:r>
              <a:rPr lang="en-US" altLang="zh-CN" sz="2000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·</a:t>
            </a:r>
            <a:r>
              <a:rPr lang="zh-CN" alt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拓新</a:t>
            </a:r>
            <a:endParaRPr lang="zh-CN" altLang="en-US" sz="2000" b="1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Arial" panose="020B0604020202020204" pitchFamily="34" charset="0"/>
            </a:endParaRPr>
          </a:p>
        </p:txBody>
      </p:sp>
      <p:pic>
        <p:nvPicPr>
          <p:cNvPr id="46" name="图片 45" descr="图片1"/>
          <p:cNvPicPr>
            <a:picLocks noChangeAspect="1"/>
          </p:cNvPicPr>
          <p:nvPr/>
        </p:nvPicPr>
        <p:blipFill>
          <a:blip r:embed="rId9"/>
          <a:srcRect l="2096" r="2096"/>
          <a:stretch>
            <a:fillRect/>
          </a:stretch>
        </p:blipFill>
        <p:spPr>
          <a:xfrm>
            <a:off x="0" y="5719445"/>
            <a:ext cx="12192000" cy="635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15" y="156210"/>
            <a:ext cx="2791460" cy="5759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41630" y="966470"/>
            <a:ext cx="2933700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背景：</a:t>
            </a:r>
            <a:endParaRPr lang="zh-CN" altLang="en-US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34365" y="1372870"/>
            <a:ext cx="4886960" cy="1247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 </a:t>
            </a:r>
            <a:r>
              <a:rPr lang="zh-CN" altLang="en-US"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的执行过程通常由多轮</a:t>
            </a:r>
            <a:r>
              <a:rPr lang="en-US" altLang="zh-CN"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API </a:t>
            </a:r>
            <a:r>
              <a:rPr lang="zh-CN" altLang="en-US"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调用组成：</a:t>
            </a:r>
            <a:r>
              <a:rPr lang="en-US" altLang="zh-CN"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LLM </a:t>
            </a:r>
            <a:r>
              <a:rPr lang="zh-CN" altLang="en-US"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调用、工具调用、</a:t>
            </a:r>
            <a:r>
              <a:rPr lang="en-US" altLang="zh-CN"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MCP </a:t>
            </a:r>
            <a:r>
              <a:rPr lang="zh-CN" altLang="en-US"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请求、人类反馈</a:t>
            </a:r>
            <a:r>
              <a:rPr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sz="160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每一步必须等待上一步返回后才能继续，端到端延迟成为主要瓶颈。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760" y="74295"/>
            <a:ext cx="7432675" cy="7473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" y="3171190"/>
            <a:ext cx="4792980" cy="35458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91795" y="2781935"/>
            <a:ext cx="2933700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本文</a:t>
            </a:r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创新：</a:t>
            </a:r>
            <a:endParaRPr lang="zh-CN" altLang="en-US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3895" y="3014980"/>
            <a:ext cx="6257290" cy="34912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985" y="1339850"/>
            <a:ext cx="5833110" cy="1280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15" y="156210"/>
            <a:ext cx="2791460" cy="5759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64840" y="200025"/>
            <a:ext cx="7983220" cy="365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总体框架：慢速</a:t>
            </a: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Actor 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保证正确性，快速</a:t>
            </a: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Speculator 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提前探索</a:t>
            </a:r>
            <a:endParaRPr lang="zh-CN" altLang="en-US" sz="20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Picture 4" descr="element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535" y="931545"/>
            <a:ext cx="5849620" cy="4105910"/>
          </a:xfrm>
          <a:prstGeom prst="rect">
            <a:avLst/>
          </a:prstGeom>
        </p:spPr>
      </p:pic>
      <p:pic>
        <p:nvPicPr>
          <p:cNvPr id="11" name="Picture 6" descr="element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49" y="5263515"/>
            <a:ext cx="11315699" cy="1098550"/>
          </a:xfrm>
          <a:prstGeom prst="rect">
            <a:avLst/>
          </a:prstGeom>
        </p:spPr>
      </p:pic>
      <p:sp>
        <p:nvSpPr>
          <p:cNvPr id="12" name="TextBox 9"/>
          <p:cNvSpPr txBox="1"/>
          <p:nvPr/>
        </p:nvSpPr>
        <p:spPr>
          <a:xfrm>
            <a:off x="603249" y="1131569"/>
            <a:ext cx="2071370" cy="276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1">
                <a:solidFill>
                  <a:srgbClr val="B4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传统串行Agent执行</a:t>
            </a:r>
            <a:endParaRPr b="1">
              <a:solidFill>
                <a:srgbClr val="B4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0"/>
          <p:cNvSpPr txBox="1"/>
          <p:nvPr/>
        </p:nvSpPr>
        <p:spPr>
          <a:xfrm>
            <a:off x="6599554" y="1150620"/>
            <a:ext cx="3632200" cy="276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1">
                <a:solidFill>
                  <a:srgbClr val="005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论文原图：Chess环境中的投机动作</a:t>
            </a:r>
            <a:endParaRPr b="1">
              <a:solidFill>
                <a:srgbClr val="005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11"/>
          <p:cNvSpPr txBox="1"/>
          <p:nvPr/>
        </p:nvSpPr>
        <p:spPr>
          <a:xfrm>
            <a:off x="584199" y="3044825"/>
            <a:ext cx="2772410" cy="276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1">
                <a:solidFill>
                  <a:srgbClr val="005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Speculative Actions 执行</a:t>
            </a:r>
            <a:endParaRPr b="1">
              <a:solidFill>
                <a:srgbClr val="005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12"/>
          <p:cNvSpPr txBox="1"/>
          <p:nvPr/>
        </p:nvSpPr>
        <p:spPr>
          <a:xfrm>
            <a:off x="666115" y="3478530"/>
            <a:ext cx="4361180" cy="152717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Actor发起真实API调用，负责主轨迹正确性</a:t>
            </a:r>
            <a:endParaRPr sz="155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Speculator在等待期间预测当前API的可能返回</a:t>
            </a:r>
            <a:endParaRPr sz="155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基于预测状态提前发起下一步API</a:t>
            </a:r>
            <a:endParaRPr sz="155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下一轮真实轨迹命中缓存时直接复用</a:t>
            </a:r>
            <a:endParaRPr sz="155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sz="155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16"/>
          <p:cNvSpPr txBox="1"/>
          <p:nvPr/>
        </p:nvSpPr>
        <p:spPr>
          <a:xfrm>
            <a:off x="1885949" y="5422265"/>
            <a:ext cx="3651249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1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权威执行者：强LLM／真实API／环境反</a:t>
            </a:r>
            <a:endParaRPr sz="141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17"/>
          <p:cNvSpPr txBox="1"/>
          <p:nvPr/>
        </p:nvSpPr>
        <p:spPr>
          <a:xfrm>
            <a:off x="7359649" y="5403215"/>
            <a:ext cx="4019549" cy="266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95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低延迟预测器：小模型／低reasoning effort</a:t>
            </a:r>
            <a:endParaRPr sz="1595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18"/>
          <p:cNvSpPr txBox="1"/>
          <p:nvPr/>
        </p:nvSpPr>
        <p:spPr>
          <a:xfrm>
            <a:off x="984249" y="5485765"/>
            <a:ext cx="749299" cy="298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30">
                <a:solidFill>
                  <a:srgbClr val="B4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Actor</a:t>
            </a:r>
            <a:endParaRPr sz="1830">
              <a:solidFill>
                <a:srgbClr val="B4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19"/>
          <p:cNvSpPr txBox="1"/>
          <p:nvPr/>
        </p:nvSpPr>
        <p:spPr>
          <a:xfrm>
            <a:off x="6064249" y="5504814"/>
            <a:ext cx="1289049" cy="2857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40">
                <a:solidFill>
                  <a:srgbClr val="005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Speculator</a:t>
            </a:r>
            <a:endParaRPr sz="1740">
              <a:solidFill>
                <a:srgbClr val="005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20"/>
          <p:cNvSpPr txBox="1"/>
          <p:nvPr/>
        </p:nvSpPr>
        <p:spPr>
          <a:xfrm>
            <a:off x="1885949" y="5650865"/>
            <a:ext cx="3003549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1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馈／人类；输出用于最终状态更新</a:t>
            </a:r>
            <a:endParaRPr sz="141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21"/>
          <p:cNvSpPr txBox="1"/>
          <p:nvPr/>
        </p:nvSpPr>
        <p:spPr>
          <a:xfrm>
            <a:off x="7365999" y="5650865"/>
            <a:ext cx="3930649" cy="2476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5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／简化 prompt／领域规则；只预启动不提交</a:t>
            </a:r>
            <a:endParaRPr sz="155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50" y="1482090"/>
            <a:ext cx="4587875" cy="58547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603250" y="1947545"/>
            <a:ext cx="5582285" cy="513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当前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 API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未返回时，下一步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 API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无法发起，导致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 Agent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执行天然串行。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6820" y="1491615"/>
            <a:ext cx="5607050" cy="312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15" y="156210"/>
            <a:ext cx="2791460" cy="5759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64840" y="200025"/>
            <a:ext cx="6273800" cy="365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sz="2000">
                <a:solidFill>
                  <a:srgbClr val="005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Algorithm 1：k分支单步投机动作</a:t>
            </a:r>
            <a:endParaRPr lang="zh-CN" altLang="en-US" sz="2000">
              <a:solidFill>
                <a:srgbClr val="005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8625" y="1073785"/>
            <a:ext cx="2178685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>
                <a:solidFill>
                  <a:srgbClr val="005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 Algorithm 1</a:t>
            </a:r>
            <a:endParaRPr b="1">
              <a:solidFill>
                <a:srgbClr val="005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80149" y="979170"/>
            <a:ext cx="1371600" cy="276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1">
                <a:solidFill>
                  <a:srgbClr val="B4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算法流程拆解</a:t>
            </a:r>
            <a:endParaRPr b="1">
              <a:solidFill>
                <a:srgbClr val="B4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96000" y="1563370"/>
            <a:ext cx="2454910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生成真实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135" y="1917700"/>
            <a:ext cx="1724025" cy="42862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096000" y="2308225"/>
            <a:ext cx="254000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buClrTx/>
              <a:buSzTx/>
              <a:buFont typeface="Arial" panose="020B0604020202020204" pitchFamily="34" charset="0"/>
            </a:pPr>
            <a:r>
              <a:rPr lang="en-US" altLang="zh-CN" sz="1600" i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缓存命中直接复用</a:t>
            </a:r>
            <a:endParaRPr lang="en-US" altLang="zh-CN" sz="1600" i="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87110" y="3216275"/>
            <a:ext cx="365125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ct val="60000"/>
              </a:spcAft>
            </a:pPr>
            <a:r>
              <a:rPr lang="en-US" altLang="zh-CN" sz="1600" i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未命中则 Actor 发起真实请求</a:t>
            </a:r>
            <a:endParaRPr lang="en-US" altLang="zh-CN" sz="1600" i="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96000" y="4100195"/>
            <a:ext cx="388429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spcAft>
                <a:spcPct val="60000"/>
              </a:spcAft>
              <a:buClrTx/>
              <a:buSzTx/>
              <a:buFontTx/>
            </a:pPr>
            <a:r>
              <a:rPr lang="en-US" altLang="zh-CN" sz="1600" i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Speculator 预测 k 个当前返回</a:t>
            </a:r>
            <a:endParaRPr lang="en-US" altLang="zh-CN" sz="1600" i="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096000" y="5090795"/>
            <a:ext cx="352552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ct val="60000"/>
              </a:spcAft>
            </a:pPr>
            <a:r>
              <a:rPr lang="en-US" altLang="zh-CN" sz="1600" i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预测状态下推出下一步 API</a:t>
            </a:r>
            <a:endParaRPr lang="en-US" altLang="zh-CN" sz="1600" i="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104890" y="6025515"/>
            <a:ext cx="266192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spcAft>
                <a:spcPct val="60000"/>
              </a:spcAft>
              <a:buClrTx/>
              <a:buSzTx/>
              <a:buFontTx/>
            </a:pPr>
            <a:r>
              <a:rPr lang="en-US" altLang="zh-CN" sz="1600" i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提前发起并写入缓存</a:t>
            </a:r>
            <a:endParaRPr lang="en-US" altLang="zh-CN" sz="1600" i="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010" y="2596515"/>
            <a:ext cx="1790700" cy="49530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7176135" y="2673350"/>
            <a:ext cx="456565" cy="390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若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145270" y="2673350"/>
            <a:ext cx="593725" cy="418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则：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630" y="2645410"/>
            <a:ext cx="2190750" cy="39052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270" y="3600450"/>
            <a:ext cx="1219200" cy="42862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2120" y="4497705"/>
            <a:ext cx="2343150" cy="5334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0235" y="5423535"/>
            <a:ext cx="1590675" cy="49530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075" y="4483735"/>
            <a:ext cx="2076450" cy="51435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0720" y="6362700"/>
            <a:ext cx="2114550" cy="46672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2415" y="1691640"/>
            <a:ext cx="5601335" cy="3736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15" y="156210"/>
            <a:ext cx="2791460" cy="5759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64840" y="200025"/>
            <a:ext cx="6273800" cy="365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无损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机制</a:t>
            </a:r>
            <a:endParaRPr lang="zh-CN" altLang="en-US" sz="20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2" name="Picture 4" descr="element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099" y="2927350"/>
            <a:ext cx="1206499" cy="349250"/>
          </a:xfrm>
          <a:prstGeom prst="rect">
            <a:avLst/>
          </a:prstGeom>
        </p:spPr>
      </p:pic>
      <p:pic>
        <p:nvPicPr>
          <p:cNvPr id="23" name="Picture 5" descr="element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99" y="2933699"/>
            <a:ext cx="990599" cy="323849"/>
          </a:xfrm>
          <a:prstGeom prst="rect">
            <a:avLst/>
          </a:prstGeom>
        </p:spPr>
      </p:pic>
      <p:pic>
        <p:nvPicPr>
          <p:cNvPr id="24" name="Picture 6" descr="element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299" y="3035300"/>
            <a:ext cx="825499" cy="273050"/>
          </a:xfrm>
          <a:prstGeom prst="rect">
            <a:avLst/>
          </a:prstGeom>
        </p:spPr>
      </p:pic>
      <p:pic>
        <p:nvPicPr>
          <p:cNvPr id="25" name="Picture 7" descr="element_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99" y="3790950"/>
            <a:ext cx="4495799" cy="1511300"/>
          </a:xfrm>
          <a:prstGeom prst="rect">
            <a:avLst/>
          </a:prstGeom>
        </p:spPr>
      </p:pic>
      <p:pic>
        <p:nvPicPr>
          <p:cNvPr id="26" name="Picture 8" descr="element_0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2799" y="5518149"/>
            <a:ext cx="2692399" cy="260350"/>
          </a:xfrm>
          <a:prstGeom prst="rect">
            <a:avLst/>
          </a:prstGeom>
        </p:spPr>
      </p:pic>
      <p:sp>
        <p:nvSpPr>
          <p:cNvPr id="27" name="TextBox 10"/>
          <p:cNvSpPr txBox="1"/>
          <p:nvPr/>
        </p:nvSpPr>
        <p:spPr>
          <a:xfrm>
            <a:off x="412749" y="925195"/>
            <a:ext cx="914400" cy="276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无损机制</a:t>
            </a:r>
            <a:endParaRPr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11"/>
          <p:cNvSpPr txBox="1"/>
          <p:nvPr/>
        </p:nvSpPr>
        <p:spPr>
          <a:xfrm>
            <a:off x="6502399" y="960755"/>
            <a:ext cx="1371600" cy="276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实际命中条件</a:t>
            </a:r>
            <a:endParaRPr sz="174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13"/>
          <p:cNvSpPr txBox="1"/>
          <p:nvPr/>
        </p:nvSpPr>
        <p:spPr>
          <a:xfrm>
            <a:off x="6654800" y="1336040"/>
            <a:ext cx="4762500" cy="738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投机命中不一定要求预测返回完全一致，真正需要的是预</a:t>
            </a:r>
            <a:r>
              <a:rPr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测分支诱导出的下一步API与真实下一步API一致：</a:t>
            </a:r>
            <a:endParaRPr sz="160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sz="160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21"/>
          <p:cNvSpPr txBox="1"/>
          <p:nvPr/>
        </p:nvSpPr>
        <p:spPr>
          <a:xfrm>
            <a:off x="4292599" y="2819399"/>
            <a:ext cx="1238249" cy="2476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50">
                <a:solidFill>
                  <a:srgbClr val="B4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主轨迹只使用</a:t>
            </a:r>
            <a:endParaRPr sz="1550">
              <a:solidFill>
                <a:srgbClr val="B4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22"/>
          <p:cNvSpPr txBox="1"/>
          <p:nvPr/>
        </p:nvSpPr>
        <p:spPr>
          <a:xfrm>
            <a:off x="6609079" y="3681094"/>
            <a:ext cx="914400" cy="276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适用边界</a:t>
            </a:r>
            <a:endParaRPr sz="174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23"/>
          <p:cNvSpPr txBox="1"/>
          <p:nvPr/>
        </p:nvSpPr>
        <p:spPr>
          <a:xfrm>
            <a:off x="6774180" y="4077970"/>
            <a:ext cx="4820285" cy="9366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适合：查询、搜索、预检查、模型调用、沙箱模拟</a:t>
            </a:r>
            <a:endParaRPr sz="160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谨慎：下单、转账、删除、发邮件等强副作用动作</a:t>
            </a:r>
            <a:endParaRPr sz="160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sz="141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12750" y="1346200"/>
            <a:ext cx="5793740" cy="1306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Speculator只负责预测和预启动，不直接提交主</a:t>
            </a:r>
            <a:r>
              <a:rPr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状态</a:t>
            </a:r>
            <a:endParaRPr sz="160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主状态只由Actor的真实返回结果更新</a:t>
            </a:r>
            <a:endParaRPr sz="160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缓存中保存的是提前发起的真实APIpending</a:t>
            </a:r>
            <a:r>
              <a:rPr lang="en-US"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result，而不是预测文本</a:t>
            </a:r>
            <a:endParaRPr sz="160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错误分支被丢弃、回滚，或限制在沙箱／无副作用环境内</a:t>
            </a:r>
            <a:endParaRPr sz="160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6215" y="1971040"/>
            <a:ext cx="2657475" cy="790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15" y="156210"/>
            <a:ext cx="2791460" cy="5759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64840" y="200025"/>
            <a:ext cx="6273800" cy="365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Proposition 1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：单步宽度投机的延迟收益</a:t>
            </a:r>
            <a:endParaRPr lang="zh-CN" altLang="en-US" sz="20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1" name="Picture 7" descr="element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99" y="1765300"/>
            <a:ext cx="2692399" cy="787400"/>
          </a:xfrm>
          <a:prstGeom prst="rect">
            <a:avLst/>
          </a:prstGeom>
        </p:spPr>
      </p:pic>
      <p:pic>
        <p:nvPicPr>
          <p:cNvPr id="18" name="Picture 14" descr="element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699" y="3619500"/>
            <a:ext cx="3270249" cy="298450"/>
          </a:xfrm>
          <a:prstGeom prst="rect">
            <a:avLst/>
          </a:prstGeom>
        </p:spPr>
      </p:pic>
      <p:pic>
        <p:nvPicPr>
          <p:cNvPr id="19" name="Picture 15" descr="element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149" y="3638550"/>
            <a:ext cx="996949" cy="279400"/>
          </a:xfrm>
          <a:prstGeom prst="rect">
            <a:avLst/>
          </a:prstGeom>
        </p:spPr>
      </p:pic>
      <p:pic>
        <p:nvPicPr>
          <p:cNvPr id="20" name="Picture 16" descr="element_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4199" y="4324349"/>
            <a:ext cx="5454649" cy="1143000"/>
          </a:xfrm>
          <a:prstGeom prst="rect">
            <a:avLst/>
          </a:prstGeom>
        </p:spPr>
      </p:pic>
      <p:pic>
        <p:nvPicPr>
          <p:cNvPr id="23" name="Picture 19" descr="element_0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8349" y="5734050"/>
            <a:ext cx="4571999" cy="146050"/>
          </a:xfrm>
          <a:prstGeom prst="rect">
            <a:avLst/>
          </a:prstGeom>
        </p:spPr>
      </p:pic>
      <p:pic>
        <p:nvPicPr>
          <p:cNvPr id="24" name="Picture 20" descr="element_0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8749" y="5969000"/>
            <a:ext cx="1339849" cy="292100"/>
          </a:xfrm>
          <a:prstGeom prst="rect">
            <a:avLst/>
          </a:prstGeom>
        </p:spPr>
      </p:pic>
      <p:pic>
        <p:nvPicPr>
          <p:cNvPr id="25" name="Picture 21" descr="element_02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8349" y="6070600"/>
            <a:ext cx="1238249" cy="146050"/>
          </a:xfrm>
          <a:prstGeom prst="rect">
            <a:avLst/>
          </a:prstGeom>
        </p:spPr>
      </p:pic>
      <p:sp>
        <p:nvSpPr>
          <p:cNvPr id="26" name="TextBox 23"/>
          <p:cNvSpPr txBox="1"/>
          <p:nvPr/>
        </p:nvSpPr>
        <p:spPr>
          <a:xfrm>
            <a:off x="438149" y="902970"/>
            <a:ext cx="2057400" cy="276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命中概率与速度模型</a:t>
            </a:r>
            <a:endParaRPr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4"/>
          <p:cNvSpPr txBox="1"/>
          <p:nvPr/>
        </p:nvSpPr>
        <p:spPr>
          <a:xfrm>
            <a:off x="5486399" y="902970"/>
            <a:ext cx="1828800" cy="276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buClrTx/>
              <a:buSzTx/>
              <a:buFontTx/>
            </a:pPr>
            <a:r>
              <a:rPr sz="18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长期运行时间比例</a:t>
            </a:r>
            <a:endParaRPr sz="180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5"/>
          <p:cNvSpPr txBox="1"/>
          <p:nvPr/>
        </p:nvSpPr>
        <p:spPr>
          <a:xfrm>
            <a:off x="5651499" y="2785745"/>
            <a:ext cx="1143000" cy="276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两项含义：</a:t>
            </a:r>
            <a:endParaRPr sz="1740">
              <a:solidFill>
                <a:srgbClr val="B4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6"/>
          <p:cNvSpPr txBox="1"/>
          <p:nvPr/>
        </p:nvSpPr>
        <p:spPr>
          <a:xfrm>
            <a:off x="5734049" y="3117849"/>
            <a:ext cx="5403849" cy="330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25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·p(k)/(1+p(k)：命中带来的结构性收益；cache hit 的下一</a:t>
            </a:r>
            <a:endParaRPr sz="1625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7"/>
          <p:cNvSpPr txBox="1"/>
          <p:nvPr/>
        </p:nvSpPr>
        <p:spPr>
          <a:xfrm>
            <a:off x="711199" y="3283903"/>
            <a:ext cx="3439795" cy="2457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A：Speculator 延迟B：真实 API 延迟</a:t>
            </a:r>
            <a:endParaRPr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28"/>
          <p:cNvSpPr txBox="1"/>
          <p:nvPr/>
        </p:nvSpPr>
        <p:spPr>
          <a:xfrm>
            <a:off x="5772149" y="3403600"/>
            <a:ext cx="2082799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1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轮不会继续开投机窗口</a:t>
            </a:r>
            <a:endParaRPr sz="141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29"/>
          <p:cNvSpPr txBox="1"/>
          <p:nvPr/>
        </p:nvSpPr>
        <p:spPr>
          <a:xfrm>
            <a:off x="730249" y="3537902"/>
            <a:ext cx="2164080" cy="2457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a越大，Speculator越快</a:t>
            </a:r>
            <a:endParaRPr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0"/>
          <p:cNvSpPr txBox="1"/>
          <p:nvPr/>
        </p:nvSpPr>
        <p:spPr>
          <a:xfrm>
            <a:off x="457199" y="4144645"/>
            <a:ext cx="1600200" cy="276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一次命中的节省</a:t>
            </a:r>
            <a:endParaRPr sz="174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435" y="1181100"/>
            <a:ext cx="2428875" cy="56515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2674620"/>
            <a:ext cx="4378960" cy="537210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6435" y="4474210"/>
            <a:ext cx="2228850" cy="53340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1615" y="1265555"/>
            <a:ext cx="3351530" cy="1347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15" y="156210"/>
            <a:ext cx="2791460" cy="5759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64840" y="200025"/>
            <a:ext cx="6273800" cy="365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实验结果提炼：棋类、电商、多跳搜索</a:t>
            </a:r>
            <a:endParaRPr lang="zh-CN" altLang="en-US" sz="20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b="10912"/>
          <a:stretch>
            <a:fillRect/>
          </a:stretch>
        </p:blipFill>
        <p:spPr>
          <a:xfrm>
            <a:off x="812165" y="950595"/>
            <a:ext cx="10979150" cy="51066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65300" y="6057265"/>
            <a:ext cx="8989060" cy="711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sz="16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结论：Agent 的下一步 API 调用并非完全不可预测；只要存在稳定命中率，投机动作就能把部分等待时间隐藏到后台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15" y="156210"/>
            <a:ext cx="2791460" cy="5759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64840" y="200025"/>
            <a:ext cx="6273800" cy="365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成本</a:t>
            </a: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延迟权衡、扩展实验</a:t>
            </a:r>
            <a:endParaRPr lang="en-US" altLang="zh-CN" sz="20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8149" y="895350"/>
            <a:ext cx="2152649" cy="2857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4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OS调参：有损扩展</a:t>
            </a:r>
            <a:endParaRPr sz="174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73189" y="844550"/>
            <a:ext cx="1739899" cy="298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3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投机宽度的选择</a:t>
            </a:r>
            <a:endParaRPr sz="183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4499" y="4886325"/>
            <a:ext cx="1320799" cy="298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3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总结与启发</a:t>
            </a:r>
            <a:endParaRPr sz="1830">
              <a:solidFill>
                <a:srgbClr val="2323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60" y="1430020"/>
            <a:ext cx="5129530" cy="28263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165" y="1253490"/>
            <a:ext cx="2956560" cy="3463925"/>
          </a:xfrm>
          <a:prstGeom prst="rect">
            <a:avLst/>
          </a:prstGeom>
        </p:spPr>
      </p:pic>
      <p:pic>
        <p:nvPicPr>
          <p:cNvPr id="14" name="Picture 8" descr="element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4024" y="2390140"/>
            <a:ext cx="2584449" cy="59055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38150" y="5289550"/>
            <a:ext cx="6977380" cy="1154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本文把投机解码的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“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预测一验证一提交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”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推广到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agent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动作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/API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层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Algorithm1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用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Actor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保证正确性，用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Speculator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隐藏等待时间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单步宽度投机的理论上限约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50%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，成本分析说明分支数需要自适应选择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后续可研究多步投机树、置信度校准、工具副作用建模和训练阶段加速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TABLE_ENDDRAG_ORIGIN_RECT" val="562*40"/>
  <p:tag name="TABLE_ENDDRAG_RECT" val="234*354*562*40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ISLIDE.GUIDESSETTING" val="{&quot;Id&quot;:null,&quot;Name&quot;:&quot;宽&quot;,&quot;HeaderHeight&quot;:15.0,&quot;FooterHeight&quot;:9.0,&quot;SideMargin&quot;:5.5,&quot;TopMargin&quot;:0.0,&quot;BottomMargin&quot;:0.0,&quot;IntervalMargin&quot;:2.5,&quot;SettingType&quot;:&quot;System&quot;}"/>
  <p:tag name="ISPRING_SCORM_RATE_SLIDES" val="0"/>
  <p:tag name="ISPRING_SCORM_RATE_QUIZZES" val="0"/>
  <p:tag name="ISPRING_SCORM_PASSING_SCORE" val="0.000000"/>
  <p:tag name="ISPRING_ULTRA_SCORM_COURSE_ID" val="BEF99DCC-E381-4074-8050-23102282FEDF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Repository"/>
  <p:tag name="ISPRING_OUTPUT_FOLDER" val="F:\1.30修改\78683"/>
  <p:tag name="ISPRING_FIRST_PUBLISH" val="1"/>
  <p:tag name="ISPRING_PRESENTATION_TITLE" val="黑金创意商务风开题报告PPT背景"/>
  <p:tag name="commondata" val="eyJoZGlkIjoiNWNiMTQyZGIwMGRkZGQwMDZjZDYwMTBmOTk2MTYxOGYifQ=="/>
  <p:tag name="resource_record_key" val="{&quot;29&quot;:[50053236,50053340,50053004,50053032,50052953,50053064]}"/>
</p:tagLst>
</file>

<file path=ppt/theme/theme1.xml><?xml version="1.0" encoding="utf-8"?>
<a:theme xmlns:a="http://schemas.openxmlformats.org/drawingml/2006/main" name="Office Theme">
  <a:themeElements>
    <a:clrScheme name="自定义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9646"/>
      </a:hlink>
      <a:folHlink>
        <a:srgbClr val="F7964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indent="0" algn="l">
          <a:lnSpc>
            <a:spcPct val="100000"/>
          </a:lnSpc>
          <a:buClrTx/>
          <a:buSzTx/>
          <a:buFont typeface="Arial" panose="020B0604020202020204" pitchFamily="34" charset="0"/>
          <a:buNone/>
          <a:defRPr lang="zh-CN" altLang="en-US" sz="1600" dirty="0" smtClean="0">
            <a:solidFill>
              <a:schemeClr val="tx1">
                <a:lumMod val="75000"/>
                <a:lumOff val="25000"/>
              </a:schemeClr>
            </a:solidFill>
            <a:latin typeface="Cambria Math" panose="02040503050406030204" charset="0"/>
            <a:ea typeface="微软雅黑" panose="020B0503020204020204" charset="-122"/>
            <a:cs typeface="Cambria Math" panose="0204050305040603020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1225</Words>
  <Application>WPS 演示</Application>
  <PresentationFormat>宽屏</PresentationFormat>
  <Paragraphs>123</Paragraphs>
  <Slides>8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Cambria Math</vt:lpstr>
      <vt:lpstr>微软雅黑</vt:lpstr>
      <vt:lpstr>黑体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WIN7</dc:creator>
  <cp:lastModifiedBy>第二梦</cp:lastModifiedBy>
  <cp:revision>1102</cp:revision>
  <dcterms:created xsi:type="dcterms:W3CDTF">2026-06-07T07:14:00Z</dcterms:created>
  <dcterms:modified xsi:type="dcterms:W3CDTF">2026-07-06T08:20:52Z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704A1B3E3B984574BB5C577978DECEAE_13</vt:lpwstr>
  </property>
</Properties>
</file>