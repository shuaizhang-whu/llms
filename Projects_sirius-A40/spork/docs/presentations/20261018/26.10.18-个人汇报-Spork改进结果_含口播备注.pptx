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5" r:id="rId11"/>
    <p:sldId id="263" r:id="rId12"/>
    <p:sldId id="264" r:id="rId13"/>
    <p:sldId id="268" r:id="rId14"/>
    <p:sldId id="266" r:id="rId15"/>
    <p:sldId id="267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1830"/>
    <a:srgbClr val="933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这次汇报的是 </a:t>
            </a:r>
            <a:r>
              <a:rPr lang="en-US" altLang="zh-CN"/>
              <a:t>SPORK，</a:t>
            </a:r>
            <a:r>
              <a:rPr lang="zh-CN" altLang="en-US"/>
              <a:t>一篇通过提前预测工具调用来加速 </a:t>
            </a:r>
            <a:r>
              <a:rPr lang="en-US" altLang="zh-CN"/>
              <a:t>Agent </a:t>
            </a:r>
            <a:r>
              <a:rPr lang="zh-CN" altLang="en-US"/>
              <a:t>的工作，最后介绍我目前的复现结果。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Agent </a:t>
            </a:r>
            <a:r>
              <a:rPr lang="zh-CN" altLang="en-US"/>
              <a:t>通常先生成推理和工具调用，再等待工具返回结果。论文在所测工作负载中发现，工具执行占端到端耗时的 16% 到 37%。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已有的 </a:t>
            </a:r>
            <a:r>
              <a:rPr lang="en-US" altLang="zh-CN"/>
              <a:t>Token </a:t>
            </a:r>
            <a:r>
              <a:rPr lang="zh-CN" altLang="en-US"/>
              <a:t>级投机解码主要加速文本生成。这个方法</a:t>
            </a:r>
            <a:r>
              <a:rPr lang="zh-CN" altLang="en-US"/>
              <a:t>是希望把工具启动的时间提前：在主路仍然推理时，用同一个模型创建预测支路，预测工具名和参数，并提前执行。主路正式给出调用后，如果两份调用一致，就复用提前执行的结果，减少等待。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这个方法的前提是，模型能较早预测自己将要使用的工具。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左图中，</a:t>
            </a:r>
            <a:r>
              <a:rPr lang="en-US" altLang="zh-CN"/>
              <a:t>Qwen3-32B </a:t>
            </a:r>
            <a:r>
              <a:rPr lang="zh-CN" altLang="en-US"/>
              <a:t>在五个基准上的早期工具名预测准确率达到 74.6% 到 99.6%。模型根据已有上下文，往往已经能判断要使用哪类工具。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参数更难确定。例如，两边都选择搜索，但搜索词不同，完整调用就没有匹配。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右图展示了推理进度的影响。</a:t>
            </a:r>
            <a:r>
              <a:rPr lang="en-US" altLang="zh-CN"/>
              <a:t>GAIA </a:t>
            </a:r>
            <a:r>
              <a:rPr lang="zh-CN" altLang="en-US"/>
              <a:t>上，参数完全匹配率从起点的 7.6%，提高到观察了 80% 思维链时的 61%，推理结束时达到 97.5%。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预测越晚，参数通常越可靠，留给工具提前执行的时间也越少。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图中展示了 </a:t>
            </a:r>
            <a:r>
              <a:rPr lang="en-US" altLang="zh-CN"/>
              <a:t>SPORK </a:t>
            </a:r>
            <a:r>
              <a:rPr lang="zh-CN" altLang="en-US"/>
              <a:t>如何把这个预测机会变成实际的时间重叠。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主路正常开始生成，首个 </a:t>
            </a:r>
            <a:r>
              <a:rPr lang="en-US" altLang="zh-CN"/>
              <a:t>token </a:t>
            </a:r>
            <a:r>
              <a:rPr lang="zh-CN" altLang="en-US"/>
              <a:t>出现后，系统创建短预测请求。两条路径使用同一个模型，没有引入额外的小模型。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预测支路读取原始上下文和当前已经生成的推理，加上强制工具调用前缀，直接生成工具名和参数。它只能看到分叉时已有的内容。后续重试，才能利用主路新增的推理。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预测通过置信度门控后，工具在后台执行，主路继续推理。等正式调用出现，系统严格比较两边的工具名和参数。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匹配时复用已经启动的任务；工具尚未完成，就等待剩余时间。不匹配时，执行主路的正式调用。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当前只对只读工具提前执行。写操作一旦产生影响，不能通过丢弃结果来撤销。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三个机制分别处理预测成本、执行时机和预测文本复用。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D1 </a:t>
            </a:r>
            <a:r>
              <a:rPr lang="zh-CN" altLang="en-US"/>
              <a:t>共享前缀缓存。主路和支路有大量相同的上下文，复用 </a:t>
            </a:r>
            <a:r>
              <a:rPr lang="en-US" altLang="zh-CN"/>
              <a:t>KV </a:t>
            </a:r>
            <a:r>
              <a:rPr lang="zh-CN" altLang="en-US"/>
              <a:t>缓存可以减少重复预填充。分叉后的生成仍然需要计算，支路也仍会占用资源。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D2 </a:t>
            </a:r>
            <a:r>
              <a:rPr lang="zh-CN" altLang="en-US"/>
              <a:t>控制是否提前执行。它取工具名 </a:t>
            </a:r>
            <a:r>
              <a:rPr lang="en-US" altLang="zh-CN"/>
              <a:t>token </a:t>
            </a:r>
            <a:r>
              <a:rPr lang="zh-CN" altLang="en-US"/>
              <a:t>概率的最小值作为置信度，达到阈值就发出调用；置信度不足，就等主路生成更多推理，再次预测。这里判断的是工具名的确定程度，最终能否采用结果，仍取决于完整调用是否匹配。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D3 </a:t>
            </a:r>
            <a:r>
              <a:rPr lang="zh-CN" altLang="en-US"/>
              <a:t>将预测调用文本作为投机解码草稿。在主路生成正式调用时，由主模型验证并接受可接受的 </a:t>
            </a:r>
            <a:r>
              <a:rPr lang="en-US" altLang="zh-CN"/>
              <a:t>token。</a:t>
            </a:r>
            <a:r>
              <a:rPr lang="zh-CN" altLang="en-US"/>
              <a:t>即使完整调用没有匹配，其中一部分文本仍可能帮助加速生成。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D1 </a:t>
            </a:r>
            <a:r>
              <a:rPr lang="zh-CN" altLang="en-US"/>
              <a:t>复用上下文的计算结果，</a:t>
            </a:r>
            <a:r>
              <a:rPr lang="en-US" altLang="zh-CN"/>
              <a:t>D3 </a:t>
            </a:r>
            <a:r>
              <a:rPr lang="zh-CN" altLang="en-US"/>
              <a:t>复用经过验证的调用 </a:t>
            </a:r>
            <a:r>
              <a:rPr lang="en-US" altLang="zh-CN"/>
              <a:t>token。</a:t>
            </a:r>
            <a:r>
              <a:rPr lang="zh-CN" altLang="en-US"/>
              <a:t>最终能否加速，取决于节省的工具等待能否覆盖额外开销。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实验主要检查端到端延迟和任务质量。</a:t>
            </a:r>
            <a:r>
              <a:rPr lang="en-US" altLang="zh-CN"/>
              <a:t>P50 </a:t>
            </a:r>
            <a:r>
              <a:rPr lang="zh-CN" altLang="en-US"/>
              <a:t>反映典型任务耗时，</a:t>
            </a:r>
            <a:r>
              <a:rPr lang="en-US" altLang="zh-CN"/>
              <a:t>P95 </a:t>
            </a:r>
            <a:r>
              <a:rPr lang="zh-CN" altLang="en-US"/>
              <a:t>反映较慢任务的尾延迟，</a:t>
            </a:r>
            <a:r>
              <a:rPr lang="en-US" altLang="zh-CN"/>
              <a:t>EM </a:t>
            </a:r>
            <a:r>
              <a:rPr lang="zh-CN" altLang="en-US"/>
              <a:t>等指标衡量任务表现。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GAIA </a:t>
            </a:r>
            <a:r>
              <a:rPr lang="zh-CN" altLang="en-US"/>
              <a:t>上，</a:t>
            </a:r>
            <a:r>
              <a:rPr lang="en-US" altLang="zh-CN"/>
              <a:t>Qwen3-32B </a:t>
            </a:r>
            <a:r>
              <a:rPr lang="zh-CN" altLang="en-US"/>
              <a:t>的 </a:t>
            </a:r>
            <a:r>
              <a:rPr lang="en-US" altLang="zh-CN"/>
              <a:t>P95 </a:t>
            </a:r>
            <a:r>
              <a:rPr lang="zh-CN" altLang="en-US"/>
              <a:t>从 131.9 秒降到 108.1 秒，降低约 18%。</a:t>
            </a:r>
            <a:r>
              <a:rPr lang="en-US" altLang="zh-CN"/>
              <a:t>HotpotQA </a:t>
            </a:r>
            <a:r>
              <a:rPr lang="zh-CN" altLang="en-US"/>
              <a:t>的收益较小，</a:t>
            </a:r>
            <a:r>
              <a:rPr lang="en-US" altLang="zh-CN"/>
              <a:t>P95 </a:t>
            </a:r>
            <a:r>
              <a:rPr lang="zh-CN" altLang="en-US"/>
              <a:t>加速约 1.06 倍。</a:t>
            </a:r>
            <a:r>
              <a:rPr lang="en-US" altLang="zh-CN"/>
              <a:t>Qwen3-4B </a:t>
            </a:r>
            <a:r>
              <a:rPr lang="zh-CN" altLang="en-US"/>
              <a:t>在真实工具基准上的收益接近持平。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这些结果说明，加速效果依赖具体的模型和工作负载。图中不同模型的配置、基线和纵轴尺度存在区别，需要在各自设置内比较。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消融中，不同机制对平均延迟和尾延迟的影响不同。</a:t>
            </a:r>
            <a:r>
              <a:rPr lang="en-US" altLang="zh-CN"/>
              <a:t>D1 </a:t>
            </a:r>
            <a:r>
              <a:rPr lang="zh-CN" altLang="en-US"/>
              <a:t>对平均延迟更有利，完整配置在这组实验中取得最好的 </a:t>
            </a:r>
            <a:r>
              <a:rPr lang="en-US" altLang="zh-CN"/>
              <a:t>P95。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SPORK </a:t>
            </a:r>
            <a:r>
              <a:rPr lang="zh-CN" altLang="en-US"/>
              <a:t>需要足够的时间重叠。主路推理太短，支路可能来不及提前执行；工具本身很快，可节省的等待有限；服务负载较高，额外预测还可能拖慢主路。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复现时需要同时检查预测是否命中，以及额外计算是否抵消了重叠收益。我目前先实现和测试 </a:t>
            </a:r>
            <a:r>
              <a:rPr lang="en-US" altLang="zh-CN"/>
              <a:t>D1、D2，</a:t>
            </a:r>
            <a:r>
              <a:rPr lang="zh-CN" altLang="en-US"/>
              <a:t>还没有加入 </a:t>
            </a:r>
            <a:r>
              <a:rPr lang="en-US" altLang="zh-CN"/>
              <a:t>D3。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目前我用 </a:t>
            </a:r>
            <a:r>
              <a:rPr lang="en-US" altLang="zh-CN"/>
              <a:t>vLLM </a:t>
            </a:r>
            <a:r>
              <a:rPr lang="zh-CN" altLang="en-US"/>
              <a:t>启动 </a:t>
            </a:r>
            <a:r>
              <a:rPr lang="en-US" altLang="zh-CN"/>
              <a:t>Qwen3-4B，</a:t>
            </a:r>
            <a:r>
              <a:rPr lang="zh-CN" altLang="en-US"/>
              <a:t>在 </a:t>
            </a:r>
            <a:r>
              <a:rPr lang="en-US" altLang="zh-CN"/>
              <a:t>τ²-bench （tua2-bench）</a:t>
            </a:r>
            <a:r>
              <a:rPr lang="zh-CN" altLang="en-US"/>
              <a:t>上对比 </a:t>
            </a:r>
            <a:r>
              <a:rPr lang="en-US" altLang="zh-CN"/>
              <a:t>Baseline </a:t>
            </a:r>
            <a:r>
              <a:rPr lang="zh-CN" altLang="en-US"/>
              <a:t>和 </a:t>
            </a:r>
            <a:r>
              <a:rPr lang="en-US" altLang="zh-CN"/>
              <a:t>D1+D2，</a:t>
            </a:r>
            <a:r>
              <a:rPr lang="zh-CN" altLang="en-US"/>
              <a:t>统计了 51 个共同任务。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当前没有取得整体加速。</a:t>
            </a:r>
            <a:r>
              <a:rPr lang="en-US" altLang="zh-CN"/>
              <a:t>D1+D2 </a:t>
            </a:r>
            <a:r>
              <a:rPr lang="zh-CN" altLang="en-US"/>
              <a:t>在 20 个任务上更快，</a:t>
            </a:r>
            <a:r>
              <a:rPr lang="en-US" altLang="zh-CN"/>
              <a:t>Baseline </a:t>
            </a:r>
            <a:r>
              <a:rPr lang="zh-CN" altLang="en-US"/>
              <a:t>在 31 个任务上更快。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任务成功数从 6 个增加到 8 个，动作匹配率从 20.4% 提高到 27.1%。。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这批结果说明，在当前配置下，</a:t>
            </a:r>
            <a:r>
              <a:rPr lang="en-US" altLang="zh-CN"/>
              <a:t>D1+D2 </a:t>
            </a:r>
            <a:r>
              <a:rPr lang="zh-CN" altLang="en-US"/>
              <a:t>尚未形成整体时延优势。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接着上次的复现往下汇报。这次使用 Qwen3-32B，补上 D3，在 tau2 上跑完了 155 个任务。D1+D2 的平均耗时下降 8.14%，完整配置下降 6.62%。D3 已经接入验证流程，平均耗时还没有进一步下降。</a:t>
            </a:r>
            <a:endParaRPr lang="zh-CN"/>
          </a:p>
          <a:p>
            <a:r>
              <a:rPr lang="zh-CN"/>
              <a:t>旧版运行中，部分任务的动作轨迹不同。这组结果先作为历史运行统计，不能直接证明严格无损加速。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这一页重点看蓝色部分。我把改动放在第一次提前预测之前，用一个小 BERT 决定这一轮是否启动、什么时候启动。它读取任务、历史信息和当前思考前缀，估计立即启动与等待后启动各能省多少时间，再从不启动、现在启动、等待后启动中选一个。</a:t>
            </a:r>
            <a:endParaRPr lang="zh-CN"/>
          </a:p>
          <a:p>
            <a:r>
              <a:rPr lang="zh-CN"/>
              <a:t>BERT 负责选择时机，不生成工具调用。等待能提供更多推理信息，也会缩短工具执行的重叠窗口。我想验证，当前思考能不能帮助判断这次等待是否值得。后续重试、工具匹配和 D3 验证沿用 SPORK。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这批数据来自 tau2 的航空和零售任务。132 个任务采到 262 个前缀，其中 260 条可用，214 条训练，46 条验证。</a:t>
            </a:r>
            <a:endParaRPr lang="zh-CN"/>
          </a:p>
          <a:p>
            <a:r>
              <a:rPr lang="zh-CN"/>
              <a:t>标签通过共同前缀对照得到。恢复相同的上下文和工具环境，分别运行不启动、立即启动、等待后启动，每种重复三次。用不启动的耗时减去另外两种耗时，得到两项收益。控制器只读取决策时已有的信息，后续输出仅用于计算标签。训练和验证按任务划分，另外保留 23 个测试任务。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控制器采用 BERT-Tiny，两层 Transformer，隐藏维度 128，加上双输出回归头。主模型生成 32 个 token 时做一次决策，两项输出都是相对不启动能节省的秒数。都不大于零就不启动，否则选预计收益更高的策略。等待的目标是主模型累计生成 96 个 token。</a:t>
            </a:r>
            <a:endParaRPr lang="zh-CN"/>
          </a:p>
          <a:p>
            <a:r>
              <a:rPr lang="zh-CN"/>
              <a:t>主模型保持正常生成，只训练控制器。每组训练 200 轮，使用三个随机种子。还单独训练了一组遮蔽当前思考文本的 BERT，保留输入长度和其他信息，用来检验这段思考的额外价值。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训练损失从大约 1 降到 0.05，训练集误差已经很低。验证 MSE 没有同步下降，训练和验证的差距逐渐拉大，出现过拟合迹象。策略收益也还有明显波动。</a:t>
            </a:r>
            <a:endParaRPr lang="zh-CN"/>
          </a:p>
          <a:p>
            <a:r>
              <a:rPr lang="zh-CN"/>
              <a:t>完整输入与屏蔽思考的模型表现接近，现有结果还不能证明，当前 32 个 token 的思考内容提供了稳定增量。图中的收益来自离线标签，没有计入控制器耗时。检查点按验证集的时间收益选择，没有直接取最后一轮。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这一页是在线实验的中途快照，和第八页的旧版复现不是同一组对照，绝对耗时不直接比较。表里只统计六组都没有执行错误、且轨迹一致的 55 个任务，其中测试集有 8 个。</a:t>
            </a:r>
            <a:endParaRPr lang="zh-CN"/>
          </a:p>
          <a:p>
            <a:r>
              <a:rPr lang="zh-CN"/>
              <a:t>BERT 比 SPORK 平均每任务少约 0.37 秒，和固定等待只差约 13 毫秒，几乎持平。控制器推理开销已经计入。每种策略只运行一次，还不能把这点差异当成稳定优势。最终判断以完整测试集为准，重点看 BERT 能否超过固定等待，以及当前思考有没有额外价值。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242506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solidFill>
                  <a:schemeClr val="tx1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串行</a:t>
            </a:r>
            <a:r>
              <a:rPr>
                <a:solidFill>
                  <a:schemeClr val="tx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Agent </a:t>
            </a:r>
            <a:r>
              <a:rPr>
                <a:solidFill>
                  <a:schemeClr val="tx1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的等待瓶颈</a:t>
            </a:r>
            <a:endParaRPr>
              <a:solidFill>
                <a:schemeClr val="tx1"/>
              </a:solidFill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901315"/>
            <a:ext cx="2524125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168B87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308229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思维链推理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3162300" y="3129915"/>
            <a:ext cx="228600" cy="190500"/>
          </a:xfrm>
          <a:prstGeom prst="rightArrow">
            <a:avLst/>
          </a:prstGeom>
          <a:solidFill>
            <a:srgbClr val="168B87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419475" y="2901315"/>
            <a:ext cx="2524125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168B87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514725" y="308229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生成工具调用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5972175" y="3129915"/>
            <a:ext cx="228600" cy="190500"/>
          </a:xfrm>
          <a:prstGeom prst="rightArrow">
            <a:avLst/>
          </a:prstGeom>
          <a:solidFill>
            <a:srgbClr val="168B87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229350" y="2901315"/>
            <a:ext cx="2524125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8C1830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24600" y="308229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等待工具结果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8782050" y="3129915"/>
            <a:ext cx="228600" cy="190500"/>
          </a:xfrm>
          <a:prstGeom prst="rightArrow">
            <a:avLst/>
          </a:prstGeom>
          <a:solidFill>
            <a:srgbClr val="168B87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039225" y="2901315"/>
            <a:ext cx="2524125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168B87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134475" y="308229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继续推理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1180" y="4382135"/>
            <a:ext cx="2740660" cy="6870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57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sz="4000"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16–37%</a:t>
            </a:r>
            <a:endParaRPr sz="400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51974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工具执行占端到端耗时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4095750" y="4168775"/>
            <a:ext cx="0" cy="2066925"/>
          </a:xfrm>
          <a:prstGeom prst="line">
            <a:avLst/>
          </a:prstGeom>
          <a:noFill/>
          <a:ln w="14288">
            <a:solidFill>
              <a:srgbClr val="D8DFE3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467225" y="4140200"/>
            <a:ext cx="695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68B87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Token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级投机解码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467225" y="4492625"/>
            <a:ext cx="69342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en-US" altLang="zh-CN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Token </a:t>
            </a: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级投机解码主要加速文本生成，工具执行仍可能成为瓶颈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。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67225" y="4949825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68B87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SPORK</a:t>
            </a: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67225" y="5302250"/>
            <a:ext cx="68770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在主路继续推理时，用同一个模型提前预测工具调用，让工具执行与剩余推理重叠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。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pic>
        <p:nvPicPr>
          <p:cNvPr id="5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8415"/>
            <a:ext cx="6791960" cy="135509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479425" y="1628775"/>
            <a:ext cx="4921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问题：工具调用形成串行等待</a:t>
            </a:r>
            <a:endParaRPr lang="zh-CN" altLang="en-US" sz="24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09600" y="304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研究动机：工具名可以提前预测，参数仍需推理</a:t>
            </a:r>
            <a:endParaRPr lang="zh-CN" altLang="en-US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715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68B87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生成开始时，模型已能较准确地预测工具名</a:t>
            </a:r>
            <a:endParaRPr lang="zh-CN" altLang="en-US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62100"/>
            <a:ext cx="5200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工具名可以较早预测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19850" y="1562100"/>
            <a:ext cx="5162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精确参数依赖推理进度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589" y="2009775"/>
            <a:ext cx="3790373" cy="319087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899" y="2143125"/>
            <a:ext cx="4506527" cy="29527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704850" y="5238750"/>
            <a:ext cx="5124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0">
                <a:solidFill>
                  <a:srgbClr val="63717C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Figure 3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·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Qwen3-32B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，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个基准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19850" y="5238750"/>
            <a:ext cx="5162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0">
                <a:solidFill>
                  <a:srgbClr val="63717C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Figure 4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·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GAIA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，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Qwen3-32B</a:t>
            </a: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5562600"/>
            <a:ext cx="51911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74.6–99.6%</a:t>
            </a: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038850"/>
            <a:ext cx="519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生成开始时的工具名预测准确率</a:t>
            </a:r>
            <a:endParaRPr lang="zh-CN" altLang="en-US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19850" y="5572125"/>
            <a:ext cx="51625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75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7.6% / 61.0% / 97.5%</a:t>
            </a: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19850" y="6038850"/>
            <a:ext cx="5162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GAIA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参数完全匹配率，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0% / 80% / 100% CoT</a:t>
            </a: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53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09600" y="304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整体流程：同模型预测与严格匹配</a:t>
            </a:r>
            <a:endParaRPr lang="zh-CN" altLang="en-US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715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68B87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主流保持推理，分叉负责提前准备工具结果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1443" y="1457325"/>
            <a:ext cx="8249115" cy="33528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09600" y="4838700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63717C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Figure 6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·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串行执行与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SPORK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时间线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5143500"/>
            <a:ext cx="333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68B87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</a:t>
            </a: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19175" y="51435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首个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token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后分叉，共享前缀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KV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缓存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" y="5457825"/>
            <a:ext cx="333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68B87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</a:t>
            </a: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19175" y="5457825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置信度达标后，异步执行预测工具调用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5772150"/>
            <a:ext cx="333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68B87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</a:t>
            </a: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19175" y="577215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工具名与序列化参数完全一致才复用结果，否则串行回退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143625"/>
            <a:ext cx="9497060" cy="2971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仅对标记为只读的工具投机执行，写操作仍走串行路径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pic>
        <p:nvPicPr>
          <p:cNvPr id="53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304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en-US">
                <a:sym typeface="+mn-ea"/>
              </a:rPr>
              <a:t>Spork</a:t>
            </a:r>
            <a:r>
              <a:rPr lang="zh-CN" altLang="en-US">
                <a:sym typeface="+mn-ea"/>
              </a:rPr>
              <a:t>的</a:t>
            </a:r>
            <a:r>
              <a:rPr>
                <a:sym typeface="+mn-ea"/>
              </a:rPr>
              <a:t>三项机制</a:t>
            </a:r>
            <a:endParaRPr lang="zh-CN" altLang="en-US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38275"/>
            <a:ext cx="3190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D1 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共享前缀缓存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48125" y="143827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首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token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后再分叉，避免重复
预填充与同时争用。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609600" y="2531745"/>
            <a:ext cx="6978650" cy="2540"/>
          </a:xfrm>
          <a:prstGeom prst="line">
            <a:avLst/>
          </a:prstGeom>
          <a:noFill/>
          <a:ln w="9525">
            <a:solidFill>
              <a:srgbClr val="D8DFE3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2790825"/>
            <a:ext cx="3190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D2 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自适应置信门控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048125" y="27908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取工具名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token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的最小概率，
达阈值才派发。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609600" y="3886200"/>
            <a:ext cx="6978650" cy="635"/>
          </a:xfrm>
          <a:prstGeom prst="line">
            <a:avLst/>
          </a:prstGeom>
          <a:noFill/>
          <a:ln w="9525">
            <a:solidFill>
              <a:srgbClr val="D8DFE3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4143375"/>
            <a:ext cx="3190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D3 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部分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token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接受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48125" y="414337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主模型验证</a:t>
            </a: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预测调用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，接受匹配
前缀，只续写剩余部分。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09600" y="5238750"/>
            <a:ext cx="7074535" cy="635"/>
          </a:xfrm>
          <a:prstGeom prst="line">
            <a:avLst/>
          </a:prstGeom>
          <a:noFill/>
          <a:ln w="9525">
            <a:solidFill>
              <a:srgbClr val="D8DFE3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28650" y="5733415"/>
            <a:ext cx="6858000" cy="435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加速条件：平均可隐藏的工具时间，需要覆盖额外探针开销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pic>
        <p:nvPicPr>
          <p:cNvPr id="5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905" y="981075"/>
            <a:ext cx="4160520" cy="58185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304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端到端实验：</a:t>
            </a: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加速收益随工作负载变化</a:t>
            </a:r>
            <a:endParaRPr lang="zh-CN" altLang="en-US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7155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Qwen3-32B / 4B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与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Qwen3.5-35B-A3B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，思考模式，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H20-3e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，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vLLM</a:t>
            </a: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660" y="1365250"/>
            <a:ext cx="9311005" cy="290449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742950" y="425640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0">
                <a:solidFill>
                  <a:srgbClr val="63717C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Figure 10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·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各模型相对各自基线的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P95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延迟，纵轴尺度不同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pic>
        <p:nvPicPr>
          <p:cNvPr id="53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5960" y="4725035"/>
            <a:ext cx="1866265" cy="40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charset="0"/>
                <a:ea typeface="微软雅黑" charset="0"/>
              </a:rPr>
              <a:t>主要指标：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83615" y="5156835"/>
            <a:ext cx="4253230" cy="1454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P50：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典型任务的完成时间。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P95：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较慢任务的尾延迟。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EM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等任务质量指标：检查加速后的任务表现。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520055" y="4721860"/>
            <a:ext cx="2103120" cy="40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charset="0"/>
                <a:ea typeface="微软雅黑" charset="0"/>
              </a:rPr>
              <a:t>主要结果：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807710" y="5153660"/>
            <a:ext cx="5908040" cy="1454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GAIA，Qwen3-32B：P95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从 131.9 秒降至 108.1 秒，降低约 18%。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HotpotQA，Qwen3-32B：P95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加速约 1.06×。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Qwen3-4B：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在真实工具任务上的收益接近持平。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09600" y="304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消融结果与适用边界</a:t>
            </a:r>
            <a:endParaRPr lang="zh-CN" altLang="en-US">
              <a:latin typeface="PingFang HK" panose="020B0400000000000000" charset="-120"/>
              <a:ea typeface="宋体" charset="0"/>
              <a:cs typeface="PingFang HK" panose="020B0400000000000000" charset="-12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5230" y="1530350"/>
            <a:ext cx="4991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消融结果</a:t>
            </a:r>
            <a:endParaRPr lang="zh-CN" altLang="en-US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846" y="1695450"/>
            <a:ext cx="4997207" cy="36385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09600" y="5391150"/>
            <a:ext cx="5219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63717C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Figure 12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·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GAIA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，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Qwen3-32B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，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N=165</a:t>
            </a:r>
            <a:endParaRPr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5743575"/>
            <a:ext cx="5238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D1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更有利于平均延迟；
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D1+D2+D3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的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P95 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为</a:t>
            </a:r>
            <a:r>
              <a:rPr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108.1 s</a:t>
            </a:r>
            <a:r>
              <a:rPr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。</a:t>
            </a:r>
            <a:endParaRPr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5875655" y="1181100"/>
            <a:ext cx="0" cy="4514850"/>
          </a:xfrm>
          <a:prstGeom prst="line">
            <a:avLst/>
          </a:prstGeom>
          <a:noFill/>
          <a:ln w="13335">
            <a:solidFill>
              <a:srgbClr val="D8DFE3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13500" y="1987550"/>
            <a:ext cx="563054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buFont typeface="Arial" panose="020B0604020202090204" pitchFamily="34" charset="0"/>
              <a:buChar char="•"/>
              <a:defRPr sz="1800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不同机制对平均延迟和尾延迟的影响不同。</a:t>
            </a:r>
            <a:endParaRPr lang="zh-CN" altLang="en-US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  <a:p>
            <a:pPr marL="285750" indent="-285750" algn="l">
              <a:buFont typeface="Arial" panose="020B0604020202090204" pitchFamily="34" charset="0"/>
              <a:buChar char="•"/>
              <a:defRPr sz="1800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完整配置在所展示的 </a:t>
            </a:r>
            <a:r>
              <a:rPr lang="en-US" altLang="zh-CN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GAIA </a:t>
            </a: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消融实验中取得最佳 </a:t>
            </a:r>
            <a:r>
              <a:rPr lang="en-US" altLang="zh-CN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P95。</a:t>
            </a:r>
            <a:endParaRPr lang="en-US" altLang="zh-CN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pic>
        <p:nvPicPr>
          <p:cNvPr id="53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240145" y="2807970"/>
            <a:ext cx="4991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加速需要足够的时间重叠</a:t>
            </a:r>
            <a:endParaRPr lang="zh-CN" altLang="en-US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68415" y="3265170"/>
            <a:ext cx="5591175" cy="9823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buFont typeface="Arial" panose="020B0604020202090204" pitchFamily="34" charset="0"/>
              <a:buChar char="•"/>
              <a:defRPr sz="1800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主路剩余推理越短，提前执行的时间优势越小。</a:t>
            </a:r>
            <a:endParaRPr lang="zh-CN" altLang="en-US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  <a:p>
            <a:pPr marL="285750" indent="-285750" algn="l">
              <a:buFont typeface="Arial" panose="020B0604020202090204" pitchFamily="34" charset="0"/>
              <a:buChar char="•"/>
              <a:defRPr sz="1800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工具越快，可隐藏的等待时间越有限。</a:t>
            </a:r>
            <a:endParaRPr lang="zh-CN" altLang="en-US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  <a:p>
            <a:pPr marL="285750" indent="-285750" algn="l">
              <a:buFont typeface="Arial" panose="020B0604020202090204" pitchFamily="34" charset="0"/>
              <a:buChar char="•"/>
              <a:defRPr sz="1800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服务负载越高，支路与主路争用资源的影响越大</a:t>
            </a:r>
            <a:r>
              <a:rPr lang="en-US" altLang="zh-CN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。</a:t>
            </a:r>
            <a:endParaRPr lang="en-US" altLang="zh-CN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5230" y="4415790"/>
            <a:ext cx="4991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当前适用范围</a:t>
            </a:r>
            <a:endParaRPr lang="zh-CN" altLang="en-US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13500" y="4872990"/>
            <a:ext cx="563054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buFont typeface="Arial" panose="020B0604020202090204" pitchFamily="34" charset="0"/>
              <a:buChar char="•"/>
              <a:defRPr sz="1800" b="0">
                <a:solidFill>
                  <a:srgbClr val="18344A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以只读工具为主；写操作不进入当前投机执行路径</a:t>
            </a:r>
            <a:r>
              <a:rPr lang="en-US" altLang="zh-CN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。</a:t>
            </a:r>
            <a:endParaRPr lang="en-US" altLang="zh-CN">
              <a:latin typeface="PingFang HK" panose="020B0400000000000000" charset="-120"/>
              <a:ea typeface="PingFang HK" panose="020B0400000000000000" charset="-120"/>
              <a:cs typeface="PingFang HK" panose="020B0400000000000000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09600" y="304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>
                <a:sym typeface="+mn-ea"/>
              </a:rPr>
              <a:t>实验复现</a:t>
            </a:r>
            <a:r>
              <a:rPr lang="zh-CN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：</a:t>
            </a:r>
            <a:r>
              <a:rPr lang="en-US" altLang="zh-CN">
                <a:sym typeface="+mn-ea"/>
              </a:rPr>
              <a:t>D1+D2</a:t>
            </a:r>
            <a:r>
              <a:rPr lang="zh-CN" altLang="en-US">
                <a:sym typeface="+mn-ea"/>
              </a:rPr>
              <a:t>机制的加速</a:t>
            </a:r>
            <a:r>
              <a:rPr lang="zh-CN" altLang="en-US">
                <a:sym typeface="+mn-ea"/>
              </a:rPr>
              <a:t>效果</a:t>
            </a:r>
            <a:endParaRPr lang="zh-CN" altLang="en-US">
              <a:sym typeface="+mn-ea"/>
            </a:endParaRPr>
          </a:p>
        </p:txBody>
      </p:sp>
      <p:pic>
        <p:nvPicPr>
          <p:cNvPr id="5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1815" y="1124585"/>
            <a:ext cx="10160635" cy="473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实验设置：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vLLM · Qwen3-4B · τ²-bench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Baseline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与 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D1+D2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的51个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task</a:t>
            </a:r>
            <a:endParaRPr lang="en-US" altLang="zh-CN" sz="2000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" y="1772920"/>
            <a:ext cx="10058400" cy="3759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1056005" y="6093460"/>
            <a:ext cx="85629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D1+D2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的任务成功率和动作匹配率有所上升，其原因仍需进一步排查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09600" y="304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>
                <a:sym typeface="+mn-ea"/>
              </a:rPr>
              <a:t>实验复现</a:t>
            </a:r>
            <a:r>
              <a:rPr lang="zh-CN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：</a:t>
            </a:r>
            <a:r>
              <a:rPr lang="en-US">
                <a:sym typeface="+mn-ea"/>
              </a:rPr>
              <a:t>Spork</a:t>
            </a:r>
            <a:r>
              <a:rPr lang="zh-CN" altLang="en-US">
                <a:sym typeface="+mn-ea"/>
              </a:rPr>
              <a:t>的加速</a:t>
            </a:r>
            <a:r>
              <a:rPr lang="zh-CN" altLang="en-US">
                <a:sym typeface="+mn-ea"/>
              </a:rPr>
              <a:t>效果</a:t>
            </a:r>
            <a:endParaRPr lang="zh-CN" altLang="en-US">
              <a:sym typeface="+mn-ea"/>
            </a:endParaRPr>
          </a:p>
        </p:txBody>
      </p:sp>
      <p:pic>
        <p:nvPicPr>
          <p:cNvPr id="5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1815" y="908685"/>
            <a:ext cx="10160635" cy="473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实验设置：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vLLM · Qwen3-32B · τ²-bench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Baseline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与 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D1+D2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+D3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5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5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个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task</a:t>
            </a:r>
            <a:endParaRPr lang="en-US" altLang="zh-CN" sz="20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035" y="6309360"/>
            <a:ext cx="753999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相对 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Baseline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D1+D2 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的平均耗时下降 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8.14%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，完整 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D1+D2+D3 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下降 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6.62%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zh-CN" altLang="en-US" sz="1600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070" y="2493010"/>
            <a:ext cx="3162300" cy="29965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15" y="2997200"/>
            <a:ext cx="6080760" cy="30403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65" y="1393190"/>
            <a:ext cx="6851015" cy="142494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8976360" y="5661660"/>
            <a:ext cx="270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论文报告结果约为</a:t>
            </a:r>
            <a:r>
              <a:rPr lang="en-US" altLang="zh-CN"/>
              <a:t>10%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09600" y="304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en-US" altLang="zh-CN">
                <a:sym typeface="+mn-ea"/>
              </a:rPr>
              <a:t>Insight</a:t>
            </a:r>
            <a:r>
              <a:rPr lang="zh-CN" altLang="en-US">
                <a:ea typeface="宋体" charset="0"/>
                <a:sym typeface="+mn-ea"/>
              </a:rPr>
              <a:t>：</a:t>
            </a:r>
            <a:r>
              <a:rPr lang="en-US" altLang="zh-CN">
                <a:sym typeface="+mn-ea"/>
              </a:rPr>
              <a:t>BERT-Guided</a:t>
            </a:r>
            <a:r>
              <a:rPr lang="zh-CN" altLang="en-US">
                <a:ea typeface="宋体" charset="0"/>
                <a:sym typeface="+mn-ea"/>
              </a:rPr>
              <a:t>，</a:t>
            </a:r>
            <a:r>
              <a:rPr lang="zh-CN">
                <a:sym typeface="+mn-ea"/>
              </a:rPr>
              <a:t>预测启动</a:t>
            </a:r>
            <a:r>
              <a:rPr lang="zh-CN">
                <a:sym typeface="+mn-ea"/>
              </a:rPr>
              <a:t>时机</a:t>
            </a:r>
            <a:endParaRPr lang="zh-CN">
              <a:sym typeface="+mn-ea"/>
            </a:endParaRPr>
          </a:p>
        </p:txBody>
      </p:sp>
      <p:pic>
        <p:nvPicPr>
          <p:cNvPr id="5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09600" y="908685"/>
            <a:ext cx="8945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读取当前思考前缀，预测现在启动和等待后启动的时间收益。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660" y="1328420"/>
            <a:ext cx="5057140" cy="54076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315" y="1916430"/>
            <a:ext cx="2872740" cy="397446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V="1">
            <a:off x="6024245" y="2060575"/>
            <a:ext cx="2447925" cy="1296035"/>
          </a:xfrm>
          <a:prstGeom prst="straightConnector1">
            <a:avLst/>
          </a:prstGeom>
          <a:ln w="31750" cap="flat" cmpd="sng">
            <a:solidFill>
              <a:srgbClr val="C00000"/>
            </a:solidFill>
            <a:prstDash val="sysDot"/>
            <a:miter lim="800000"/>
            <a:headEnd type="triangle"/>
            <a:tailEnd type="non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5951855" y="5805170"/>
            <a:ext cx="2520315" cy="0"/>
          </a:xfrm>
          <a:prstGeom prst="straightConnector1">
            <a:avLst/>
          </a:prstGeom>
          <a:ln w="31750" cmpd="sng">
            <a:solidFill>
              <a:srgbClr val="C00000"/>
            </a:solidFill>
            <a:prstDash val="sysDot"/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415415" y="3356610"/>
            <a:ext cx="4392295" cy="2520315"/>
          </a:xfrm>
          <a:prstGeom prst="rect">
            <a:avLst/>
          </a:prstGeom>
          <a:noFill/>
          <a:ln w="12700" cmpd="sng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09600" y="304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 altLang="en-US">
                <a:sym typeface="+mn-ea"/>
              </a:rPr>
              <a:t>采集</a:t>
            </a:r>
            <a:r>
              <a:rPr lang="zh-CN" altLang="en-US">
                <a:sym typeface="+mn-ea"/>
              </a:rPr>
              <a:t>训练样本：</a:t>
            </a:r>
            <a:endParaRPr lang="zh-CN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08685"/>
            <a:ext cx="5944870" cy="5652770"/>
          </a:xfrm>
          <a:prstGeom prst="rect">
            <a:avLst/>
          </a:prstGeom>
        </p:spPr>
      </p:pic>
      <p:graphicFrame>
        <p:nvGraphicFramePr>
          <p:cNvPr id="10" name="表格 9"/>
          <p:cNvGraphicFramePr/>
          <p:nvPr/>
        </p:nvGraphicFramePr>
        <p:xfrm>
          <a:off x="177165" y="1805940"/>
          <a:ext cx="5593715" cy="3502025"/>
        </p:xfrm>
        <a:graphic>
          <a:graphicData uri="http://schemas.openxmlformats.org/drawingml/2006/table">
            <a:tbl>
              <a:tblPr/>
              <a:tblGrid>
                <a:gridCol w="876935"/>
                <a:gridCol w="987425"/>
                <a:gridCol w="932815"/>
                <a:gridCol w="932180"/>
                <a:gridCol w="1101090"/>
                <a:gridCol w="763270"/>
              </a:tblGrid>
              <a:tr h="440690">
                <a:tc gridSpan="6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训练样本采自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 τ²-bench 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数据集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0" marR="0" marT="0" marB="0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29590">
                <a:tc>
                  <a:txBody>
                    <a:bodyPr/>
                    <a:p>
                      <a:pPr algn="ctr"/>
                      <a:r>
                        <a:rPr lang="zh-CN" altLang="en-US" sz="1200">
                          <a:latin typeface="微软雅黑" charset="0"/>
                          <a:ea typeface="微软雅黑" charset="0"/>
                        </a:rPr>
                        <a:t>任务领域</a:t>
                      </a:r>
                      <a:endParaRPr lang="zh-CN" altLang="en-US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200">
                          <a:latin typeface="微软雅黑" charset="0"/>
                          <a:ea typeface="微软雅黑" charset="0"/>
                        </a:rPr>
                        <a:t>采集任务数</a:t>
                      </a:r>
                      <a:endParaRPr lang="zh-CN" altLang="en-US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200">
                          <a:latin typeface="微软雅黑" charset="0"/>
                          <a:ea typeface="微软雅黑" charset="0"/>
                        </a:rPr>
                        <a:t>原始前缀数</a:t>
                      </a:r>
                      <a:endParaRPr lang="zh-CN" altLang="en-US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200">
                          <a:latin typeface="微软雅黑" charset="0"/>
                          <a:ea typeface="微软雅黑" charset="0"/>
                        </a:rPr>
                        <a:t>有效训练样本</a:t>
                      </a:r>
                      <a:endParaRPr lang="zh-CN" altLang="en-US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200">
                          <a:latin typeface="微软雅黑" charset="0"/>
                          <a:ea typeface="微软雅黑" charset="0"/>
                        </a:rPr>
                        <a:t>有效验证样本</a:t>
                      </a:r>
                      <a:endParaRPr lang="zh-CN" altLang="en-US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200">
                          <a:latin typeface="微软雅黑" charset="0"/>
                          <a:ea typeface="微软雅黑" charset="0"/>
                        </a:rPr>
                        <a:t>无效样本</a:t>
                      </a:r>
                      <a:endParaRPr lang="zh-CN" altLang="en-US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43915">
                <a:tc>
                  <a:txBody>
                    <a:bodyPr/>
                    <a:p>
                      <a:pPr algn="ctr"/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航空服务（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Airline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37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73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60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12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43915">
                <a:tc>
                  <a:txBody>
                    <a:bodyPr/>
                    <a:p>
                      <a:pPr algn="ctr"/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零售服务（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Retail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95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189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154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34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43915">
                <a:tc>
                  <a:txBody>
                    <a:bodyPr/>
                    <a:p>
                      <a:pPr algn="ctr"/>
                      <a:r>
                        <a:rPr lang="zh-CN" altLang="en-US" sz="1200">
                          <a:latin typeface="微软雅黑" charset="0"/>
                          <a:ea typeface="微软雅黑" charset="0"/>
                        </a:rPr>
                        <a:t>合计</a:t>
                      </a:r>
                      <a:endParaRPr lang="zh-CN" altLang="en-US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132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262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</a:rPr>
                        <a:t>214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</a:rPr>
                        <a:t>46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lang="en-US" altLang="zh-CN" sz="1200">
                        <a:latin typeface="微软雅黑" charset="0"/>
                        <a:ea typeface="微软雅黑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09600" y="304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>
                <a:sym typeface="+mn-ea"/>
              </a:rPr>
              <a:t>训练策略</a:t>
            </a:r>
            <a:r>
              <a:rPr lang="zh-CN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：</a:t>
            </a:r>
            <a:endParaRPr lang="zh-CN" altLang="en-US">
              <a:sym typeface="+mn-ea"/>
            </a:endParaRPr>
          </a:p>
        </p:txBody>
      </p:sp>
      <p:pic>
        <p:nvPicPr>
          <p:cNvPr id="5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9600" y="908685"/>
            <a:ext cx="99434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BERT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预测器的功能是决定 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SPORK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第一次提前预测的启动时机。主模型生成 32 个 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token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后，它读取当前信息，估计“立即启动”和“等待后启动”的时间收益，再选择 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off / now / wait。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7125" y="1605280"/>
            <a:ext cx="755713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off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：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	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本轮不启动提前预测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now	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立即启动提前预测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wait	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再生成至少 64 个 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token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后启动；若正式动作提前出现，则取消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2935" y="2996565"/>
            <a:ext cx="1112266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模型结构：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BERT-Tiny：2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层 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Transformer、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隐藏维度 128；接双输出回归头；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输入信息：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用户任务、系统规则、历史动作与工具结果、当前思考前缀、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token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数特征；</a:t>
            </a:r>
            <a:endParaRPr lang="zh-CN" altLang="en-US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输出内容：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gain_now_s、gain_wait_s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；</a:t>
            </a:r>
            <a:endParaRPr lang="zh-CN" altLang="en-US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监督标签：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			     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同一前缀下，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off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耗时减去 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now / wait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耗时；三次重复测量取平均；</a:t>
            </a:r>
            <a:endParaRPr lang="zh-CN" altLang="en-US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数据规模：训练 214 条、验证 46 条；</a:t>
            </a:r>
            <a:endParaRPr lang="zh-CN" altLang="en-US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训练轮数：每组 200 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epochs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；</a:t>
            </a:r>
            <a:br>
              <a:rPr lang="zh-CN" altLang="en-US">
                <a:latin typeface="微软雅黑" charset="0"/>
                <a:ea typeface="微软雅黑" charset="0"/>
                <a:cs typeface="微软雅黑" charset="0"/>
              </a:rPr>
            </a:b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655" y="5229225"/>
            <a:ext cx="3140710" cy="13912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505" y="4364990"/>
            <a:ext cx="2501900" cy="41910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H="1">
            <a:off x="7823835" y="4801235"/>
            <a:ext cx="12065" cy="35560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09600" y="304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zh-CN">
                <a:sym typeface="+mn-ea"/>
              </a:rPr>
              <a:t>训练情况</a:t>
            </a:r>
            <a:r>
              <a:rPr lang="zh-CN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：</a:t>
            </a:r>
            <a:endParaRPr lang="zh-CN" altLang="en-US">
              <a:sym typeface="+mn-ea"/>
            </a:endParaRPr>
          </a:p>
        </p:txBody>
      </p:sp>
      <p:pic>
        <p:nvPicPr>
          <p:cNvPr id="5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10" y="692785"/>
            <a:ext cx="10508615" cy="59112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09600" y="304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8C1830"/>
                </a:solidFill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defRPr>
            </a:pPr>
            <a:r>
              <a:rPr lang="en-US" altLang="zh-CN">
                <a:sym typeface="+mn-ea"/>
              </a:rPr>
              <a:t>BERT-Guided</a:t>
            </a:r>
            <a:r>
              <a:rPr lang="zh-CN" altLang="en-US">
                <a:sym typeface="+mn-ea"/>
              </a:rPr>
              <a:t>的实验结果（未完成）</a:t>
            </a:r>
            <a:r>
              <a:rPr lang="zh-CN">
                <a:latin typeface="PingFang HK" panose="020B0400000000000000" charset="-120"/>
                <a:ea typeface="PingFang HK" panose="020B0400000000000000" charset="-120"/>
                <a:cs typeface="PingFang HK" panose="020B0400000000000000" charset="-120"/>
              </a:rPr>
              <a:t>：</a:t>
            </a:r>
            <a:endParaRPr lang="zh-CN" altLang="en-US">
              <a:sym typeface="+mn-ea"/>
            </a:endParaRPr>
          </a:p>
        </p:txBody>
      </p:sp>
      <p:pic>
        <p:nvPicPr>
          <p:cNvPr id="5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720" y="80645"/>
            <a:ext cx="2791460" cy="5759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15" y="1772920"/>
            <a:ext cx="10099675" cy="378777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2063</Words>
  <Application>WPS 演示</Application>
  <PresentationFormat>Converted Presentation</PresentationFormat>
  <Paragraphs>218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PingFang HK</vt:lpstr>
      <vt:lpstr>Times New Roman</vt:lpstr>
      <vt:lpstr>微软雅黑</vt:lpstr>
      <vt:lpstr>方正雅意黑 GB18030L2</vt:lpstr>
      <vt:lpstr>宋体</vt:lpstr>
      <vt:lpstr>汉仪书宋二KW</vt:lpstr>
      <vt:lpstr>微软雅黑</vt:lpstr>
      <vt:lpstr>Calibri</vt:lpstr>
      <vt:lpstr>Helvetica Neue</vt:lpstr>
      <vt:lpstr>Arial Unicode MS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第二梦</cp:lastModifiedBy>
  <cp:revision>85</cp:revision>
  <dcterms:created xsi:type="dcterms:W3CDTF">2026-10-18T07:05:13Z</dcterms:created>
  <dcterms:modified xsi:type="dcterms:W3CDTF">2026-10-18T07:05:13Z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2052-12.1.29181.29181</vt:lpwstr>
  </property>
  <property fmtid="{D5CDD505-2E9C-101B-9397-08002B2CF9AE}" pid="3" name="ICV">
    <vt:lpwstr>94E093939F937147B663AF6A903D5A93_42</vt:lpwstr>
  </property>
</Properties>
</file>